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24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4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70FE3-92AA-30F9-1EA5-F1FBD8E348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FA605-8850-3059-37A9-117EF09A81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61216-E00D-6762-18C4-238A5F933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534A3-260F-44B2-AB07-7694A4CE3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E449A-2AC4-D731-0124-AF9DDCCD1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759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6A078-480F-9E87-4261-B55220A76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577D2-1AD9-CDFE-539E-A9D14B68E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BB698-3F1A-C8C7-FE3A-9091E695C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319C7-60AE-BB99-25D8-8E1732F33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30D03-EFC3-54B7-18D3-A1228ED15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66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68B25-CF25-B22C-1D05-13CBC920F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50D88-954F-57B4-D0DD-B1C19746C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B54C4-F6A9-BF82-52CB-C506FDF00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FDFDB-4A75-1A93-012C-FE31C32C5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8893F-59FC-0C28-66B1-BD167AC9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20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D737E-5D6D-3B5C-A743-FDDA2CFEE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A166F-5A0F-FEA3-16B2-16F6C8B97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A702DA-EE77-D4D9-36F8-BEEADEBDF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62CC0-1A89-4881-8106-6C93C6DB7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AC9C6-C662-ECC4-8EC9-72C70D843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0F4E3-EC07-FE8B-22C2-B61E6CDC1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46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80D59-FAD7-33FE-3645-D44FAEC5F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9B5E3-9CDF-808E-8432-B12759E3C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797380-E5EA-643F-BE61-F4F1E72522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60EC28-CAEB-9203-936C-7F586CCFAD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AAEAEC-2B19-DCCB-471C-FA8B2F8049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5E3671-B880-032F-FC25-1F324CD46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FA3F62-3D85-91C3-53AA-4EE18CF7B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CDFBB6-C13F-A145-4E9B-12DF633AC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705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B06A5-9CFF-CE9E-A9C8-C6A1F143B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DCD06E-5AB7-85BF-63F6-DE3178A8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79501D-2C9D-B7CE-2E09-51DED03C3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EFC1A7-C859-33FF-9947-14A850803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14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13AC1D-E859-10AA-0511-2E92E35AC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B74AF8-B4F5-BEC4-33D3-393F6631E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DF264-CFFF-7AD4-F881-67AABC7E0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286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E4850-0601-E36C-2452-311DCEDA2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57F8B-5D0E-ACFF-0641-D762272D4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BBCA6-DF50-A345-DF92-6F16831AB8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DA80B-E056-B50B-9621-07163EB41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F1853-B05C-9864-A7C1-97ABD89C8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677BE-7DA1-C161-A8BD-C530573BF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059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58801-1B58-45C4-F737-70CA21694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9EC82E-104A-862E-92DB-0FEE1923CA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5BE248-5832-0BB7-7367-A357D0720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E50A19-D217-F55A-4CBE-24CF9B620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ED068-1D13-01AA-D344-5E5930A20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CE9FB-943B-2AB1-AA49-ABD3DBB6D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514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F7B65-0B57-E423-195E-C8216CB90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694FFB-9F9A-EE61-3DC3-2B6A82CA0B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08631-22EF-75F9-4801-D088A76EF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D0A2-0B84-8AD0-FA90-9345F170C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478AC-25F0-49AE-B766-243697D20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00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8ED4B0-5A74-BE9C-E888-613ABA9950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39114C-3E07-88AB-0AB3-91EA1122E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D500F-A1DC-E1C1-FCF0-C9E5BBAC2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4705A-95FE-0AC3-B13A-C15679A34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8C1C0-69E9-4437-9586-AF03B5CB8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382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F320A-B704-69EA-D6F6-41D5C4C59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5FC54-C786-C24A-A381-C3785F98C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E129C-1603-C83A-7708-4D0E1B750B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F2E91-38C3-47E4-C5EF-F9C63C6138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5661D-ED31-8F7A-B75D-88EAE12B0F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220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sz="4800" dirty="0"/>
              <a:t>Advanced Scientific Calculator</a:t>
            </a:r>
          </a:p>
          <a:p>
            <a:pPr>
              <a:spcAft>
                <a:spcPts val="2400"/>
              </a:spcAft>
              <a:defRPr sz="2000">
                <a:solidFill>
                  <a:srgbClr val="B4C8DC"/>
                </a:solidFill>
                <a:latin typeface="Segoe UI"/>
              </a:defRPr>
            </a:pPr>
            <a:r>
              <a:rPr sz="2400" dirty="0"/>
              <a:t>Comprehensive Architectural Review &amp; Code Clean-Up Analysis</a:t>
            </a:r>
          </a:p>
          <a:p>
            <a:pPr>
              <a:defRPr sz="1400" i="1">
                <a:solidFill>
                  <a:srgbClr val="96AABE"/>
                </a:solidFill>
                <a:latin typeface="Segoe UI"/>
              </a:defRPr>
            </a:pPr>
            <a:r>
              <a:rPr sz="1600" dirty="0"/>
              <a:t>An Object-Oriented </a:t>
            </a:r>
            <a:r>
              <a:rPr sz="1600" dirty="0" err="1"/>
              <a:t>Tkinter</a:t>
            </a:r>
            <a:r>
              <a:rPr sz="1600" dirty="0"/>
              <a:t> Implementation with Secure String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584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Segoe UI"/>
              </a:defRPr>
            </a:pPr>
            <a:r>
              <a:rPr sz="3200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Agenda &amp; Presentation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657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E4164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761" y="1518100"/>
            <a:ext cx="4754880" cy="447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C2340"/>
                </a:solidFill>
                <a:latin typeface="Segoe UI"/>
              </a:defRPr>
            </a:pPr>
            <a:r>
              <a:rPr sz="2000" dirty="0"/>
              <a:t>01. Architecture Overview</a:t>
            </a:r>
          </a:p>
          <a:p>
            <a:pPr>
              <a:spcAft>
                <a:spcPts val="18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sz="2000" dirty="0"/>
              <a:t>System layer hierarchy and module topologies.</a:t>
            </a:r>
          </a:p>
          <a:p>
            <a:pPr>
              <a:defRPr sz="1800" b="1">
                <a:solidFill>
                  <a:srgbClr val="0C2340"/>
                </a:solidFill>
                <a:latin typeface="Segoe UI"/>
              </a:defRPr>
            </a:pPr>
            <a:r>
              <a:rPr sz="2000" dirty="0"/>
              <a:t>02. </a:t>
            </a:r>
            <a:r>
              <a:rPr sz="2000" dirty="0" err="1"/>
              <a:t>Tkinter</a:t>
            </a:r>
            <a:r>
              <a:rPr sz="2000" dirty="0"/>
              <a:t> Grid &amp; Containers</a:t>
            </a:r>
          </a:p>
          <a:p>
            <a:pPr>
              <a:spcAft>
                <a:spcPts val="18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sz="2000" dirty="0"/>
              <a:t>Window partitions, sizing boundaries, and alignment rows.</a:t>
            </a:r>
          </a:p>
          <a:p>
            <a:pPr>
              <a:defRPr sz="1800" b="1">
                <a:solidFill>
                  <a:srgbClr val="0C2340"/>
                </a:solidFill>
                <a:latin typeface="Segoe UI"/>
              </a:defRPr>
            </a:pPr>
            <a:r>
              <a:rPr sz="2000" dirty="0"/>
              <a:t>03. State Management &amp; Buffers</a:t>
            </a:r>
          </a:p>
          <a:p>
            <a:pPr>
              <a:spcAft>
                <a:spcPts val="18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sz="2000" dirty="0"/>
              <a:t>Dynamic evaluation workspace trackers and flags.</a:t>
            </a:r>
          </a:p>
          <a:p>
            <a:pPr>
              <a:defRPr sz="1800" b="1">
                <a:solidFill>
                  <a:srgbClr val="0C2340"/>
                </a:solidFill>
                <a:latin typeface="Segoe UI"/>
              </a:defRPr>
            </a:pPr>
            <a:r>
              <a:rPr sz="2000" dirty="0"/>
              <a:t>04. UI-to-Engine Synchronization</a:t>
            </a:r>
          </a:p>
          <a:p>
            <a:pPr>
              <a:spcAft>
                <a:spcPts val="18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sz="2000" dirty="0"/>
              <a:t>State mutator methods and core runtime updates.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04039" y="1659685"/>
            <a:ext cx="5029200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05. The Keyboard Engine (</a:t>
            </a:r>
            <a:r>
              <a:rPr dirty="0" err="1"/>
              <a:t>kbd</a:t>
            </a:r>
            <a:r>
              <a:rPr dirty="0"/>
              <a:t>)</a:t>
            </a:r>
          </a:p>
          <a:p>
            <a:pPr>
              <a:spcAft>
                <a:spcPts val="12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dirty="0"/>
              <a:t>Hardware capture rules and raw token translation mappings.</a:t>
            </a:r>
          </a:p>
          <a:p>
            <a:pPr>
              <a:defRPr sz="18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06. The Core Math Engine (calc)</a:t>
            </a:r>
          </a:p>
          <a:p>
            <a:pPr>
              <a:spcAft>
                <a:spcPts val="12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dirty="0"/>
              <a:t>Four-stage processing workflow and parsing pipelines.</a:t>
            </a:r>
          </a:p>
          <a:p>
            <a:pPr>
              <a:defRPr sz="18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07. Evaluation Security Sandbox</a:t>
            </a:r>
          </a:p>
          <a:p>
            <a:pPr>
              <a:spcAft>
                <a:spcPts val="12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dirty="0"/>
              <a:t>Namespace isolation and secure scope resource tracking.</a:t>
            </a:r>
          </a:p>
          <a:p>
            <a:pPr>
              <a:defRPr sz="18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08. History Panel Mechanics</a:t>
            </a:r>
          </a:p>
          <a:p>
            <a:pPr>
              <a:spcAft>
                <a:spcPts val="12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dirty="0"/>
              <a:t>Timeline buffer captures and double-click retrieval triggers.</a:t>
            </a:r>
          </a:p>
          <a:p>
            <a:pPr>
              <a:defRPr sz="18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09. System Audit &amp; QA Assessment</a:t>
            </a:r>
          </a:p>
          <a:p>
            <a:pPr>
              <a:spcAft>
                <a:spcPts val="12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dirty="0"/>
              <a:t>Refactoring code summaries and vulnerability logging.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584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Segoe UI"/>
              </a:defRPr>
            </a:pPr>
            <a:r>
              <a:rPr sz="3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01. Architecture Overview &amp; System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657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E4164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3383280" cy="223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4164"/>
                </a:solidFill>
                <a:latin typeface="Segoe UI"/>
              </a:defRPr>
            </a:pPr>
            <a:r>
              <a:rPr dirty="0">
                <a:solidFill>
                  <a:srgbClr val="00B0F0"/>
                </a:solidFill>
              </a:rPr>
              <a:t>UI Layer (</a:t>
            </a:r>
            <a:r>
              <a:rPr dirty="0" err="1">
                <a:solidFill>
                  <a:srgbClr val="00B0F0"/>
                </a:solidFill>
              </a:rPr>
              <a:t>Tkinter</a:t>
            </a:r>
            <a:r>
              <a:rPr dirty="0">
                <a:solidFill>
                  <a:srgbClr val="00B0F0"/>
                </a:solidFill>
              </a:rPr>
              <a:t>)</a:t>
            </a:r>
          </a:p>
          <a:p>
            <a:pPr>
              <a:lnSpc>
                <a:spcPct val="130000"/>
              </a:lnSpc>
              <a:defRPr sz="1400">
                <a:solidFill>
                  <a:srgbClr val="282C34"/>
                </a:solidFill>
                <a:latin typeface="Segoe UI"/>
              </a:defRPr>
            </a:pPr>
            <a:r>
              <a:rPr dirty="0"/>
              <a:t>• Frame Partitions: Isolates math keys from the timeline trackers.</a:t>
            </a:r>
            <a:br>
              <a:rPr dirty="0"/>
            </a:br>
            <a:r>
              <a:rPr dirty="0"/>
              <a:t>• Canvas Geometry: Enforces rigid 800x650 initialization controls.</a:t>
            </a:r>
            <a:br>
              <a:rPr dirty="0"/>
            </a:br>
            <a:r>
              <a:rPr dirty="0"/>
              <a:t>• Responsive Grids: Standardizes button sizing metrics symmetrically across rows.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2011680"/>
            <a:ext cx="3383280" cy="223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C2340"/>
                </a:solidFill>
                <a:latin typeface="Segoe UI"/>
              </a:defRPr>
            </a:pPr>
            <a:r>
              <a:rPr dirty="0">
                <a:solidFill>
                  <a:schemeClr val="tx2">
                    <a:lumMod val="90000"/>
                    <a:lumOff val="10000"/>
                  </a:schemeClr>
                </a:solidFill>
              </a:rPr>
              <a:t>Event Layer (Bindings)</a:t>
            </a:r>
          </a:p>
          <a:p>
            <a:pPr>
              <a:lnSpc>
                <a:spcPct val="130000"/>
              </a:lnSpc>
              <a:defRPr sz="1400">
                <a:solidFill>
                  <a:srgbClr val="282C34"/>
                </a:solidFill>
                <a:latin typeface="Segoe UI"/>
              </a:defRPr>
            </a:pPr>
            <a:r>
              <a:rPr dirty="0"/>
              <a:t>• Capture Loops: Monitors low-level core window hardware interactions.</a:t>
            </a:r>
            <a:br>
              <a:rPr dirty="0"/>
            </a:br>
            <a:r>
              <a:rPr dirty="0"/>
              <a:t>• Mapping Mappings: Translates keystroke character values on the fly.</a:t>
            </a:r>
            <a:br>
              <a:rPr dirty="0"/>
            </a:br>
            <a:r>
              <a:rPr dirty="0"/>
              <a:t>• Intercept Pipelines: Overrides default triggers for operation keys.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2011680"/>
            <a:ext cx="3383280" cy="223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4164"/>
                </a:solidFill>
                <a:latin typeface="Segoe UI"/>
              </a:defRPr>
            </a:pPr>
            <a:r>
              <a:rPr dirty="0">
                <a:solidFill>
                  <a:srgbClr val="C00000"/>
                </a:solidFill>
              </a:rPr>
              <a:t>Engine Layer (Eval)</a:t>
            </a:r>
          </a:p>
          <a:p>
            <a:pPr>
              <a:lnSpc>
                <a:spcPct val="130000"/>
              </a:lnSpc>
              <a:defRPr sz="1400">
                <a:solidFill>
                  <a:srgbClr val="282C34"/>
                </a:solidFill>
                <a:latin typeface="Segoe UI"/>
              </a:defRPr>
            </a:pPr>
            <a:r>
              <a:rPr dirty="0"/>
              <a:t>• Sanitization Workflows: Pre-processes visual operators to raw symbols.</a:t>
            </a:r>
            <a:br>
              <a:rPr dirty="0"/>
            </a:br>
            <a:r>
              <a:rPr dirty="0"/>
              <a:t>• Pre-Parsing Arrays: Transforms trailing operators via regex patterns.</a:t>
            </a:r>
            <a:br>
              <a:rPr dirty="0"/>
            </a:br>
            <a:r>
              <a:rPr dirty="0"/>
              <a:t>• Sandbox Calculations: Isolates privilege access paths explicitly.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584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Segoe UI"/>
              </a:defRPr>
            </a:pPr>
            <a:r>
              <a:rPr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02. </a:t>
            </a:r>
            <a:r>
              <a:rPr u="sng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Tkinter</a:t>
            </a:r>
            <a:r>
              <a:rPr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Initialization &amp; Structural Containers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657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E4164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169" y="1449275"/>
            <a:ext cx="5486400" cy="3611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C2340"/>
                </a:solidFill>
                <a:latin typeface="Segoe UI"/>
              </a:defRPr>
            </a:pPr>
            <a:r>
              <a:rPr sz="1600" dirty="0">
                <a:solidFill>
                  <a:srgbClr val="002060"/>
                </a:solidFill>
              </a:rPr>
              <a:t>Container Segregation &amp;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sz="1600" dirty="0"/>
              <a:t>• Main Container: Splits the standard 800x650 canvas grid layout into separate standalone calculation and sidebar panel frames.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sz="1600" dirty="0"/>
              <a:t>• Left Pane: Allocates active space padding for primary math keys and high-visibility digital display tracks.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sz="1600" dirty="0"/>
              <a:t>• Right Pane: Locks down the persistent structural history logging timeline tracker safely away from basic key configurations.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sz="1600" dirty="0"/>
              <a:t>• Uniform Weight Configurations: Enforces strict uniform options across columns and rows, forcing symmetry to scale perfectly when resized.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62916" y="113071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4164"/>
                </a:solidFill>
                <a:latin typeface="Segoe UI"/>
              </a:defRPr>
            </a:pPr>
            <a:r>
              <a:rPr sz="1600" dirty="0">
                <a:solidFill>
                  <a:srgbClr val="00B050"/>
                </a:solidFill>
              </a:rPr>
              <a:t>Structural Layout Setup</a:t>
            </a:r>
          </a:p>
          <a:p>
            <a:pPr>
              <a:lnSpc>
                <a:spcPct val="120000"/>
              </a:lnSpc>
            </a:pPr>
            <a:r>
              <a:rPr sz="1600" dirty="0" err="1">
                <a:solidFill>
                  <a:srgbClr val="006699"/>
                </a:solidFill>
                <a:latin typeface="Consolas"/>
              </a:rPr>
              <a:t>self</a:t>
            </a:r>
            <a:r>
              <a:rPr sz="1600" dirty="0" err="1">
                <a:solidFill>
                  <a:srgbClr val="282C34"/>
                </a:solidFill>
                <a:latin typeface="Consolas"/>
              </a:rPr>
              <a:t>.main_container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 = </a:t>
            </a:r>
            <a:r>
              <a:rPr sz="1600" dirty="0" err="1">
                <a:solidFill>
                  <a:srgbClr val="282C34"/>
                </a:solidFill>
                <a:latin typeface="Consolas"/>
              </a:rPr>
              <a:t>tk.</a:t>
            </a:r>
            <a:r>
              <a:rPr sz="1600" dirty="0" err="1">
                <a:solidFill>
                  <a:srgbClr val="006699"/>
                </a:solidFill>
                <a:latin typeface="Consolas"/>
              </a:rPr>
              <a:t>Frame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(self, </a:t>
            </a:r>
            <a:r>
              <a:rPr sz="1600" dirty="0" err="1">
                <a:solidFill>
                  <a:srgbClr val="282C34"/>
                </a:solidFill>
                <a:latin typeface="Consolas"/>
              </a:rPr>
              <a:t>bg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=</a:t>
            </a:r>
            <a:r>
              <a:rPr sz="1600" dirty="0">
                <a:solidFill>
                  <a:srgbClr val="228B22"/>
                </a:solidFill>
                <a:latin typeface="Consolas"/>
              </a:rPr>
              <a:t>'#</a:t>
            </a:r>
            <a:r>
              <a:rPr sz="1600" dirty="0" err="1">
                <a:solidFill>
                  <a:srgbClr val="228B22"/>
                </a:solidFill>
                <a:latin typeface="Consolas"/>
              </a:rPr>
              <a:t>ffffff</a:t>
            </a:r>
            <a:r>
              <a:rPr sz="1600" dirty="0">
                <a:solidFill>
                  <a:srgbClr val="228B22"/>
                </a:solidFill>
                <a:latin typeface="Consolas"/>
              </a:rPr>
              <a:t>'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)
</a:t>
            </a:r>
            <a:r>
              <a:rPr sz="1600" dirty="0" err="1">
                <a:solidFill>
                  <a:srgbClr val="006699"/>
                </a:solidFill>
                <a:latin typeface="Consolas"/>
              </a:rPr>
              <a:t>self</a:t>
            </a:r>
            <a:r>
              <a:rPr sz="1600" dirty="0" err="1">
                <a:solidFill>
                  <a:srgbClr val="282C34"/>
                </a:solidFill>
                <a:latin typeface="Consolas"/>
              </a:rPr>
              <a:t>.main_container.pack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(fill=</a:t>
            </a:r>
            <a:r>
              <a:rPr sz="1600" dirty="0">
                <a:solidFill>
                  <a:srgbClr val="228B22"/>
                </a:solidFill>
                <a:latin typeface="Consolas"/>
              </a:rPr>
              <a:t>'both'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, expand=</a:t>
            </a:r>
            <a:r>
              <a:rPr sz="1600" dirty="0">
                <a:solidFill>
                  <a:srgbClr val="7A0099"/>
                </a:solidFill>
                <a:latin typeface="Consolas"/>
              </a:rPr>
              <a:t>True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)
</a:t>
            </a:r>
            <a:r>
              <a:rPr sz="1600" dirty="0" err="1">
                <a:solidFill>
                  <a:srgbClr val="006699"/>
                </a:solidFill>
                <a:latin typeface="Consolas"/>
              </a:rPr>
              <a:t>self</a:t>
            </a:r>
            <a:r>
              <a:rPr sz="1600" dirty="0" err="1">
                <a:solidFill>
                  <a:srgbClr val="282C34"/>
                </a:solidFill>
                <a:latin typeface="Consolas"/>
              </a:rPr>
              <a:t>.calc_frame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 = </a:t>
            </a:r>
            <a:r>
              <a:rPr sz="1600" dirty="0" err="1">
                <a:solidFill>
                  <a:srgbClr val="282C34"/>
                </a:solidFill>
                <a:latin typeface="Consolas"/>
              </a:rPr>
              <a:t>tk.</a:t>
            </a:r>
            <a:r>
              <a:rPr sz="1600" dirty="0" err="1">
                <a:solidFill>
                  <a:srgbClr val="006699"/>
                </a:solidFill>
                <a:latin typeface="Consolas"/>
              </a:rPr>
              <a:t>Frame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(</a:t>
            </a:r>
            <a:r>
              <a:rPr sz="1600" dirty="0" err="1">
                <a:solidFill>
                  <a:srgbClr val="006699"/>
                </a:solidFill>
                <a:latin typeface="Consolas"/>
              </a:rPr>
              <a:t>self</a:t>
            </a:r>
            <a:r>
              <a:rPr sz="1600" dirty="0" err="1">
                <a:solidFill>
                  <a:srgbClr val="282C34"/>
                </a:solidFill>
                <a:latin typeface="Consolas"/>
              </a:rPr>
              <a:t>.main_container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)
</a:t>
            </a:r>
            <a:r>
              <a:rPr sz="1600" dirty="0" err="1">
                <a:solidFill>
                  <a:srgbClr val="006699"/>
                </a:solidFill>
                <a:latin typeface="Consolas"/>
              </a:rPr>
              <a:t>self</a:t>
            </a:r>
            <a:r>
              <a:rPr sz="1600" dirty="0" err="1">
                <a:solidFill>
                  <a:srgbClr val="282C34"/>
                </a:solidFill>
                <a:latin typeface="Consolas"/>
              </a:rPr>
              <a:t>.calc_frame.pack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(side=</a:t>
            </a:r>
            <a:r>
              <a:rPr sz="1600" dirty="0">
                <a:solidFill>
                  <a:srgbClr val="228B22"/>
                </a:solidFill>
                <a:latin typeface="Consolas"/>
              </a:rPr>
              <a:t>'left'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, fill=</a:t>
            </a:r>
            <a:r>
              <a:rPr sz="1600" dirty="0">
                <a:solidFill>
                  <a:srgbClr val="228B22"/>
                </a:solidFill>
                <a:latin typeface="Consolas"/>
              </a:rPr>
              <a:t>'both'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, expand=</a:t>
            </a:r>
            <a:r>
              <a:rPr sz="1600" dirty="0">
                <a:solidFill>
                  <a:srgbClr val="7A0099"/>
                </a:solidFill>
                <a:latin typeface="Consolas"/>
              </a:rPr>
              <a:t>True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)
</a:t>
            </a:r>
            <a:r>
              <a:rPr sz="1600" dirty="0">
                <a:solidFill>
                  <a:srgbClr val="7A0099"/>
                </a:solidFill>
                <a:latin typeface="Consolas"/>
              </a:rPr>
              <a:t>for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282C34"/>
                </a:solidFill>
                <a:latin typeface="Consolas"/>
              </a:rPr>
              <a:t>i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 </a:t>
            </a:r>
            <a:r>
              <a:rPr sz="1600" dirty="0">
                <a:solidFill>
                  <a:srgbClr val="7A0099"/>
                </a:solidFill>
                <a:latin typeface="Consolas"/>
              </a:rPr>
              <a:t>in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 </a:t>
            </a:r>
            <a:r>
              <a:rPr sz="1600" dirty="0">
                <a:solidFill>
                  <a:srgbClr val="006699"/>
                </a:solidFill>
                <a:latin typeface="Consolas"/>
              </a:rPr>
              <a:t>range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(</a:t>
            </a:r>
            <a:r>
              <a:rPr sz="1600" dirty="0">
                <a:solidFill>
                  <a:srgbClr val="B45F06"/>
                </a:solidFill>
                <a:latin typeface="Consolas"/>
              </a:rPr>
              <a:t>7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):
    </a:t>
            </a:r>
            <a:r>
              <a:rPr sz="1600" dirty="0" err="1">
                <a:solidFill>
                  <a:srgbClr val="006699"/>
                </a:solidFill>
                <a:latin typeface="Consolas"/>
              </a:rPr>
              <a:t>self</a:t>
            </a:r>
            <a:r>
              <a:rPr sz="1600" dirty="0" err="1">
                <a:solidFill>
                  <a:srgbClr val="282C34"/>
                </a:solidFill>
                <a:latin typeface="Consolas"/>
              </a:rPr>
              <a:t>.grid_frame.columnconfigure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(
        </a:t>
            </a:r>
            <a:r>
              <a:rPr sz="1600" dirty="0" err="1">
                <a:solidFill>
                  <a:srgbClr val="282C34"/>
                </a:solidFill>
                <a:latin typeface="Consolas"/>
              </a:rPr>
              <a:t>i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, weight=</a:t>
            </a:r>
            <a:r>
              <a:rPr sz="1600" dirty="0">
                <a:solidFill>
                  <a:srgbClr val="B45F06"/>
                </a:solidFill>
                <a:latin typeface="Consolas"/>
              </a:rPr>
              <a:t>1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, uniform=</a:t>
            </a:r>
            <a:r>
              <a:rPr sz="1600" dirty="0">
                <a:solidFill>
                  <a:srgbClr val="228B22"/>
                </a:solidFill>
                <a:latin typeface="Consolas"/>
              </a:rPr>
              <a:t>'cols'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
    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584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Segoe UI"/>
              </a:defRPr>
            </a:pPr>
            <a:r>
              <a:rPr u="sng" dirty="0"/>
              <a:t>03. State Management &amp; Buffers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657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E4164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17406"/>
            <a:ext cx="2560320" cy="293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C2340"/>
                </a:solidFill>
                <a:latin typeface="Consolas"/>
              </a:defRPr>
            </a:pPr>
            <a:r>
              <a:rPr sz="2000" dirty="0" err="1">
                <a:solidFill>
                  <a:schemeClr val="accent2">
                    <a:lumMod val="75000"/>
                  </a:schemeClr>
                </a:solidFill>
              </a:rPr>
              <a:t>self.current_expr</a:t>
            </a:r>
            <a:endParaRPr sz="2000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lnSpc>
                <a:spcPct val="130000"/>
              </a:lnSpc>
              <a:defRPr sz="1300">
                <a:solidFill>
                  <a:srgbClr val="282C34"/>
                </a:solidFill>
                <a:latin typeface="Segoe UI"/>
              </a:defRPr>
            </a:pPr>
            <a:r>
              <a:rPr sz="2000" dirty="0"/>
              <a:t>Primary workspace data tracker holding running evaluation strings before compute actions execute.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9481" y="1632154"/>
            <a:ext cx="2560320" cy="293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4164"/>
                </a:solidFill>
                <a:latin typeface="Consolas"/>
              </a:defRPr>
            </a:pPr>
            <a:r>
              <a:rPr sz="2000" dirty="0" err="1">
                <a:solidFill>
                  <a:schemeClr val="accent2">
                    <a:lumMod val="75000"/>
                  </a:schemeClr>
                </a:solidFill>
              </a:rPr>
              <a:t>self.last_ans</a:t>
            </a:r>
            <a:endParaRPr sz="2000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lnSpc>
                <a:spcPct val="130000"/>
              </a:lnSpc>
              <a:defRPr sz="1300">
                <a:solidFill>
                  <a:srgbClr val="282C34"/>
                </a:solidFill>
                <a:latin typeface="Segoe UI"/>
              </a:defRPr>
            </a:pPr>
            <a:r>
              <a:rPr sz="2000" dirty="0"/>
              <a:t>Persistent context memory slot tracking the previous execution return result for prompt re-use.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1" y="1754309"/>
            <a:ext cx="2560320" cy="293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C2340"/>
                </a:solidFill>
                <a:latin typeface="Consolas"/>
              </a:defRPr>
            </a:pPr>
            <a:r>
              <a:rPr sz="2000" dirty="0" err="1">
                <a:solidFill>
                  <a:schemeClr val="accent2">
                    <a:lumMod val="75000"/>
                  </a:schemeClr>
                </a:solidFill>
              </a:rPr>
              <a:t>self.is_deg</a:t>
            </a:r>
            <a:endParaRPr sz="2000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lnSpc>
                <a:spcPct val="130000"/>
              </a:lnSpc>
              <a:defRPr sz="1300">
                <a:solidFill>
                  <a:srgbClr val="282C34"/>
                </a:solidFill>
                <a:latin typeface="Segoe UI"/>
              </a:defRPr>
            </a:pPr>
            <a:r>
              <a:rPr sz="2000" dirty="0"/>
              <a:t>Trigonometric angular calculation switch (</a:t>
            </a:r>
            <a:r>
              <a:rPr sz="2000" dirty="0" err="1"/>
              <a:t>boolean</a:t>
            </a:r>
            <a:r>
              <a:rPr sz="2000" dirty="0"/>
              <a:t> flag for Degrees vs Radian math rules conversion).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4921" y="1632154"/>
            <a:ext cx="2560320" cy="293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4164"/>
                </a:solidFill>
                <a:latin typeface="Consolas"/>
              </a:defRPr>
            </a:pPr>
            <a:r>
              <a:rPr sz="2000" dirty="0" err="1">
                <a:solidFill>
                  <a:schemeClr val="accent2">
                    <a:lumMod val="75000"/>
                  </a:schemeClr>
                </a:solidFill>
              </a:rPr>
              <a:t>self.is_inv</a:t>
            </a:r>
            <a:endParaRPr sz="2000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lnSpc>
                <a:spcPct val="130000"/>
              </a:lnSpc>
              <a:defRPr sz="1300">
                <a:solidFill>
                  <a:srgbClr val="282C34"/>
                </a:solidFill>
                <a:latin typeface="Segoe UI"/>
              </a:defRPr>
            </a:pPr>
            <a:r>
              <a:rPr sz="2000" dirty="0"/>
              <a:t>Inverse layout state modifier tracking standard vs arc-based identity transformations dynamically.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584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Segoe UI"/>
              </a:defRPr>
            </a:pPr>
            <a:r>
              <a:rPr u="sng" dirty="0"/>
              <a:t>04. Display &amp; Operational State Modification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657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E4164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1" y="1498436"/>
            <a:ext cx="5486400" cy="348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C2340"/>
                </a:solidFill>
                <a:latin typeface="Segoe UI"/>
              </a:defRPr>
            </a:pPr>
            <a:r>
              <a:rPr sz="2000" dirty="0">
                <a:solidFill>
                  <a:srgbClr val="002060"/>
                </a:solidFill>
              </a:rPr>
              <a:t>Synchronized State Mutation Functions</a:t>
            </a:r>
          </a:p>
          <a:p>
            <a:pPr>
              <a:defRPr sz="1500" b="1">
                <a:solidFill>
                  <a:srgbClr val="1E4164"/>
                </a:solidFill>
                <a:latin typeface="Consolas"/>
              </a:defRPr>
            </a:pPr>
            <a:r>
              <a:rPr dirty="0" err="1"/>
              <a:t>update_dis</a:t>
            </a:r>
            <a:r>
              <a:rPr dirty="0"/>
              <a:t>()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dirty="0"/>
              <a:t>Flushes runtime workspace strings directly onto the presentation layer display label.</a:t>
            </a:r>
          </a:p>
          <a:p>
            <a:pPr>
              <a:defRPr sz="1500" b="1">
                <a:solidFill>
                  <a:srgbClr val="1E4164"/>
                </a:solidFill>
                <a:latin typeface="Consolas"/>
              </a:defRPr>
            </a:pPr>
            <a:r>
              <a:rPr dirty="0" err="1"/>
              <a:t>app_n</a:t>
            </a:r>
            <a:r>
              <a:rPr dirty="0"/>
              <a:t>(char)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dirty="0"/>
              <a:t>Validates numerical key inputs, handling string insertion logic and preventing leading zeros.</a:t>
            </a:r>
          </a:p>
          <a:p>
            <a:pPr>
              <a:defRPr sz="1500" b="1">
                <a:solidFill>
                  <a:srgbClr val="1E4164"/>
                </a:solidFill>
                <a:latin typeface="Consolas"/>
              </a:defRPr>
            </a:pPr>
            <a:r>
              <a:rPr dirty="0" err="1"/>
              <a:t>app_op</a:t>
            </a:r>
            <a:r>
              <a:rPr dirty="0"/>
              <a:t>(op)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dirty="0"/>
              <a:t>Appends mathematical operators straight to current evaluation sequences.</a:t>
            </a:r>
          </a:p>
          <a:p>
            <a:pPr>
              <a:defRPr sz="1500" b="1">
                <a:solidFill>
                  <a:srgbClr val="1E4164"/>
                </a:solidFill>
                <a:latin typeface="Consolas"/>
              </a:defRPr>
            </a:pPr>
            <a:r>
              <a:rPr dirty="0"/>
              <a:t>backspace()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dirty="0"/>
              <a:t>Slices the trailing character token out of execution string tracks sequentially.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74426" y="1420533"/>
            <a:ext cx="5212080" cy="401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C2340"/>
                </a:solidFill>
                <a:latin typeface="Segoe UI"/>
              </a:defRPr>
            </a:pPr>
            <a:r>
              <a:rPr dirty="0">
                <a:solidFill>
                  <a:srgbClr val="002060"/>
                </a:solidFill>
              </a:rPr>
              <a:t>Implementation Code Snapshots</a:t>
            </a:r>
            <a:endParaRPr sz="1600" dirty="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sz="1600" dirty="0">
                <a:solidFill>
                  <a:srgbClr val="7A0099"/>
                </a:solidFill>
                <a:latin typeface="Consolas"/>
              </a:rPr>
              <a:t>def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006699"/>
                </a:solidFill>
                <a:latin typeface="Consolas"/>
              </a:rPr>
              <a:t>update_dis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(</a:t>
            </a:r>
            <a:r>
              <a:rPr sz="1600" dirty="0">
                <a:solidFill>
                  <a:srgbClr val="006699"/>
                </a:solidFill>
                <a:latin typeface="Consolas"/>
              </a:rPr>
              <a:t>self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):
    text = </a:t>
            </a:r>
            <a:r>
              <a:rPr sz="1600" dirty="0" err="1">
                <a:solidFill>
                  <a:srgbClr val="006699"/>
                </a:solidFill>
                <a:latin typeface="Consolas"/>
              </a:rPr>
              <a:t>self</a:t>
            </a:r>
            <a:r>
              <a:rPr sz="1600" dirty="0" err="1">
                <a:solidFill>
                  <a:srgbClr val="282C34"/>
                </a:solidFill>
                <a:latin typeface="Consolas"/>
              </a:rPr>
              <a:t>.current_expr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 </a:t>
            </a:r>
            <a:r>
              <a:rPr sz="1600" dirty="0">
                <a:solidFill>
                  <a:srgbClr val="7A0099"/>
                </a:solidFill>
                <a:latin typeface="Consolas"/>
              </a:rPr>
              <a:t>if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006699"/>
                </a:solidFill>
                <a:latin typeface="Consolas"/>
              </a:rPr>
              <a:t>self</a:t>
            </a:r>
            <a:r>
              <a:rPr sz="1600" dirty="0" err="1">
                <a:solidFill>
                  <a:srgbClr val="282C34"/>
                </a:solidFill>
                <a:latin typeface="Consolas"/>
              </a:rPr>
              <a:t>.current_expr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 </a:t>
            </a:r>
            <a:r>
              <a:rPr sz="1600" dirty="0">
                <a:solidFill>
                  <a:srgbClr val="7A0099"/>
                </a:solidFill>
                <a:latin typeface="Consolas"/>
              </a:rPr>
              <a:t>else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 </a:t>
            </a:r>
            <a:r>
              <a:rPr sz="1600" dirty="0">
                <a:solidFill>
                  <a:srgbClr val="228B22"/>
                </a:solidFill>
                <a:latin typeface="Consolas"/>
              </a:rPr>
              <a:t>'0'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
    text = </a:t>
            </a:r>
            <a:r>
              <a:rPr sz="1600" dirty="0" err="1">
                <a:solidFill>
                  <a:srgbClr val="006699"/>
                </a:solidFill>
                <a:latin typeface="Consolas"/>
              </a:rPr>
              <a:t>self</a:t>
            </a:r>
            <a:r>
              <a:rPr sz="1600" dirty="0" err="1">
                <a:solidFill>
                  <a:srgbClr val="282C34"/>
                </a:solidFill>
                <a:latin typeface="Consolas"/>
              </a:rPr>
              <a:t>.display_label.configure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(text=text)
</a:t>
            </a:r>
            <a:r>
              <a:rPr sz="1600" dirty="0">
                <a:solidFill>
                  <a:srgbClr val="7A0099"/>
                </a:solidFill>
                <a:latin typeface="Consolas"/>
              </a:rPr>
              <a:t>def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006699"/>
                </a:solidFill>
                <a:latin typeface="Consolas"/>
              </a:rPr>
              <a:t>app_n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(</a:t>
            </a:r>
            <a:r>
              <a:rPr sz="1600" dirty="0">
                <a:solidFill>
                  <a:srgbClr val="006699"/>
                </a:solidFill>
                <a:latin typeface="Consolas"/>
              </a:rPr>
              <a:t>self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, n):
</a:t>
            </a:r>
            <a:r>
              <a:rPr sz="1600" dirty="0">
                <a:solidFill>
                  <a:srgbClr val="7A0099"/>
                </a:solidFill>
                <a:latin typeface="Consolas"/>
              </a:rPr>
              <a:t>    if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006699"/>
                </a:solidFill>
                <a:latin typeface="Consolas"/>
              </a:rPr>
              <a:t>self</a:t>
            </a:r>
            <a:r>
              <a:rPr sz="1600" dirty="0" err="1">
                <a:solidFill>
                  <a:srgbClr val="282C34"/>
                </a:solidFill>
                <a:latin typeface="Consolas"/>
              </a:rPr>
              <a:t>.current_expr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 == </a:t>
            </a:r>
            <a:r>
              <a:rPr sz="1600" dirty="0">
                <a:solidFill>
                  <a:srgbClr val="228B22"/>
                </a:solidFill>
                <a:latin typeface="Consolas"/>
              </a:rPr>
              <a:t>'0'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 </a:t>
            </a:r>
            <a:r>
              <a:rPr sz="1600" dirty="0">
                <a:solidFill>
                  <a:srgbClr val="7A0099"/>
                </a:solidFill>
                <a:latin typeface="Consolas"/>
              </a:rPr>
              <a:t>and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 n != </a:t>
            </a:r>
            <a:r>
              <a:rPr sz="1600" dirty="0">
                <a:solidFill>
                  <a:srgbClr val="228B22"/>
                </a:solidFill>
                <a:latin typeface="Consolas"/>
              </a:rPr>
              <a:t>'.'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:
</a:t>
            </a:r>
            <a:r>
              <a:rPr sz="1600" dirty="0">
                <a:solidFill>
                  <a:srgbClr val="006699"/>
                </a:solidFill>
                <a:latin typeface="Consolas"/>
              </a:rPr>
              <a:t>        </a:t>
            </a:r>
            <a:r>
              <a:rPr sz="1600" dirty="0" err="1">
                <a:solidFill>
                  <a:srgbClr val="006699"/>
                </a:solidFill>
                <a:latin typeface="Consolas"/>
              </a:rPr>
              <a:t>self</a:t>
            </a:r>
            <a:r>
              <a:rPr sz="1600" dirty="0" err="1">
                <a:solidFill>
                  <a:srgbClr val="282C34"/>
                </a:solidFill>
                <a:latin typeface="Consolas"/>
              </a:rPr>
              <a:t>.current_expr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 = n
</a:t>
            </a:r>
            <a:r>
              <a:rPr sz="1600" dirty="0">
                <a:solidFill>
                  <a:srgbClr val="7A0099"/>
                </a:solidFill>
                <a:latin typeface="Consolas"/>
              </a:rPr>
              <a:t>    else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:
</a:t>
            </a:r>
            <a:r>
              <a:rPr sz="1600" dirty="0">
                <a:solidFill>
                  <a:srgbClr val="006699"/>
                </a:solidFill>
                <a:latin typeface="Consolas"/>
              </a:rPr>
              <a:t>        </a:t>
            </a:r>
            <a:r>
              <a:rPr sz="1600" dirty="0" err="1">
                <a:solidFill>
                  <a:srgbClr val="006699"/>
                </a:solidFill>
                <a:latin typeface="Consolas"/>
              </a:rPr>
              <a:t>self</a:t>
            </a:r>
            <a:r>
              <a:rPr sz="1600" dirty="0" err="1">
                <a:solidFill>
                  <a:srgbClr val="282C34"/>
                </a:solidFill>
                <a:latin typeface="Consolas"/>
              </a:rPr>
              <a:t>.current_expr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 += n
</a:t>
            </a:r>
            <a:r>
              <a:rPr sz="1600" dirty="0">
                <a:solidFill>
                  <a:srgbClr val="006699"/>
                </a:solidFill>
                <a:latin typeface="Consolas"/>
              </a:rPr>
              <a:t>    </a:t>
            </a:r>
            <a:r>
              <a:rPr sz="1600" dirty="0" err="1">
                <a:solidFill>
                  <a:srgbClr val="006699"/>
                </a:solidFill>
                <a:latin typeface="Consolas"/>
              </a:rPr>
              <a:t>self</a:t>
            </a:r>
            <a:r>
              <a:rPr sz="1600" dirty="0" err="1">
                <a:solidFill>
                  <a:srgbClr val="282C34"/>
                </a:solidFill>
                <a:latin typeface="Consolas"/>
              </a:rPr>
              <a:t>.update_dis</a:t>
            </a:r>
            <a:r>
              <a:rPr sz="1600" dirty="0">
                <a:solidFill>
                  <a:srgbClr val="282C34"/>
                </a:solidFill>
                <a:latin typeface="Consolas"/>
              </a:rPr>
              <a:t>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584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Segoe UI"/>
              </a:defRPr>
            </a:pPr>
            <a:r>
              <a:rPr u="sng" dirty="0"/>
              <a:t>05. The Keyboard Capture Engine (</a:t>
            </a:r>
            <a:r>
              <a:rPr u="sng" dirty="0" err="1"/>
              <a:t>kbd</a:t>
            </a:r>
            <a:r>
              <a:rPr u="sng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657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E4164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69517"/>
            <a:ext cx="5486400" cy="2641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C2340"/>
                </a:solidFill>
                <a:latin typeface="Segoe UI"/>
              </a:defRPr>
            </a:pPr>
            <a:r>
              <a:rPr dirty="0">
                <a:solidFill>
                  <a:srgbClr val="0070C0"/>
                </a:solidFill>
              </a:rPr>
              <a:t>Hardware Event Routing Logic</a:t>
            </a:r>
          </a:p>
          <a:p>
            <a:pPr>
              <a:spcAft>
                <a:spcPts val="12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dirty="0"/>
              <a:t>• Captures low-level hardware event inputs via asynchronous </a:t>
            </a:r>
            <a:r>
              <a:rPr dirty="0" err="1"/>
              <a:t>Tkinter</a:t>
            </a:r>
            <a:r>
              <a:rPr dirty="0"/>
              <a:t> root window key bindings.</a:t>
            </a:r>
          </a:p>
          <a:p>
            <a:pPr>
              <a:spcAft>
                <a:spcPts val="12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dirty="0"/>
              <a:t>• Filters alphanumeric tracks natively from structural mathematical characters dynamically.</a:t>
            </a:r>
          </a:p>
          <a:p>
            <a:pPr>
              <a:spcAft>
                <a:spcPts val="12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dirty="0"/>
              <a:t>• Intercepts structural execution keys like Backspace, Escape, and Enter for state operations.</a:t>
            </a:r>
          </a:p>
          <a:p>
            <a:pPr>
              <a:spcAft>
                <a:spcPts val="12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dirty="0"/>
              <a:t>• Translates raw standard keyboard inputs ('*', '/') automatically into target visual UI typography representations ('×', '÷').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85936" y="1331287"/>
            <a:ext cx="5212080" cy="382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4164"/>
                </a:solidFill>
                <a:latin typeface="Segoe UI"/>
              </a:defRPr>
            </a:pPr>
            <a:r>
              <a:rPr dirty="0">
                <a:solidFill>
                  <a:srgbClr val="0070C0"/>
                </a:solidFill>
              </a:rPr>
              <a:t>Refactored Event Handler Code</a:t>
            </a:r>
          </a:p>
          <a:p>
            <a:pPr>
              <a:lnSpc>
                <a:spcPct val="120000"/>
              </a:lnSpc>
            </a:pPr>
            <a:r>
              <a:rPr dirty="0">
                <a:solidFill>
                  <a:srgbClr val="7A0099"/>
                </a:solidFill>
                <a:latin typeface="Consolas"/>
              </a:rPr>
              <a:t>def</a:t>
            </a:r>
            <a:r>
              <a:rPr dirty="0">
                <a:solidFill>
                  <a:srgbClr val="282C34"/>
                </a:solidFill>
                <a:latin typeface="Consolas"/>
              </a:rPr>
              <a:t> </a:t>
            </a:r>
            <a:r>
              <a:rPr dirty="0" err="1">
                <a:solidFill>
                  <a:srgbClr val="006699"/>
                </a:solidFill>
                <a:latin typeface="Consolas"/>
              </a:rPr>
              <a:t>kbd</a:t>
            </a:r>
            <a:r>
              <a:rPr dirty="0">
                <a:solidFill>
                  <a:srgbClr val="282C34"/>
                </a:solidFill>
                <a:latin typeface="Consolas"/>
              </a:rPr>
              <a:t>(</a:t>
            </a:r>
            <a:r>
              <a:rPr dirty="0">
                <a:solidFill>
                  <a:srgbClr val="006699"/>
                </a:solidFill>
                <a:latin typeface="Consolas"/>
              </a:rPr>
              <a:t>self</a:t>
            </a:r>
            <a:r>
              <a:rPr dirty="0">
                <a:solidFill>
                  <a:srgbClr val="282C34"/>
                </a:solidFill>
                <a:latin typeface="Consolas"/>
              </a:rPr>
              <a:t>, event):
    key = </a:t>
            </a:r>
            <a:r>
              <a:rPr dirty="0" err="1">
                <a:solidFill>
                  <a:srgbClr val="282C34"/>
                </a:solidFill>
                <a:latin typeface="Consolas"/>
              </a:rPr>
              <a:t>event.char</a:t>
            </a:r>
            <a:r>
              <a:rPr dirty="0">
                <a:solidFill>
                  <a:srgbClr val="282C34"/>
                </a:solidFill>
                <a:latin typeface="Consolas"/>
              </a:rPr>
              <a:t>
</a:t>
            </a:r>
            <a:r>
              <a:rPr dirty="0">
                <a:solidFill>
                  <a:srgbClr val="7A0099"/>
                </a:solidFill>
                <a:latin typeface="Consolas"/>
              </a:rPr>
              <a:t>    if</a:t>
            </a:r>
            <a:r>
              <a:rPr dirty="0">
                <a:solidFill>
                  <a:srgbClr val="282C34"/>
                </a:solidFill>
                <a:latin typeface="Consolas"/>
              </a:rPr>
              <a:t> key </a:t>
            </a:r>
            <a:r>
              <a:rPr dirty="0">
                <a:solidFill>
                  <a:srgbClr val="7A0099"/>
                </a:solidFill>
                <a:latin typeface="Consolas"/>
              </a:rPr>
              <a:t>in</a:t>
            </a:r>
            <a:r>
              <a:rPr dirty="0">
                <a:solidFill>
                  <a:srgbClr val="282C34"/>
                </a:solidFill>
                <a:latin typeface="Consolas"/>
              </a:rPr>
              <a:t> </a:t>
            </a:r>
            <a:r>
              <a:rPr dirty="0">
                <a:solidFill>
                  <a:srgbClr val="228B22"/>
                </a:solidFill>
                <a:latin typeface="Consolas"/>
              </a:rPr>
              <a:t>'0123456789.'</a:t>
            </a:r>
            <a:r>
              <a:rPr dirty="0">
                <a:solidFill>
                  <a:srgbClr val="282C34"/>
                </a:solidFill>
                <a:latin typeface="Consolas"/>
              </a:rPr>
              <a:t>:
</a:t>
            </a:r>
            <a:r>
              <a:rPr dirty="0">
                <a:solidFill>
                  <a:srgbClr val="006699"/>
                </a:solidFill>
                <a:latin typeface="Consolas"/>
              </a:rPr>
              <a:t>        </a:t>
            </a:r>
            <a:r>
              <a:rPr dirty="0" err="1">
                <a:solidFill>
                  <a:srgbClr val="006699"/>
                </a:solidFill>
                <a:latin typeface="Consolas"/>
              </a:rPr>
              <a:t>self</a:t>
            </a:r>
            <a:r>
              <a:rPr dirty="0" err="1">
                <a:solidFill>
                  <a:srgbClr val="282C34"/>
                </a:solidFill>
                <a:latin typeface="Consolas"/>
              </a:rPr>
              <a:t>.app_n</a:t>
            </a:r>
            <a:r>
              <a:rPr dirty="0">
                <a:solidFill>
                  <a:srgbClr val="282C34"/>
                </a:solidFill>
                <a:latin typeface="Consolas"/>
              </a:rPr>
              <a:t>(key)
</a:t>
            </a:r>
            <a:r>
              <a:rPr dirty="0">
                <a:solidFill>
                  <a:srgbClr val="7A0099"/>
                </a:solidFill>
                <a:latin typeface="Consolas"/>
              </a:rPr>
              <a:t>    </a:t>
            </a:r>
            <a:r>
              <a:rPr dirty="0" err="1">
                <a:solidFill>
                  <a:srgbClr val="7A0099"/>
                </a:solidFill>
                <a:latin typeface="Consolas"/>
              </a:rPr>
              <a:t>elif</a:t>
            </a:r>
            <a:r>
              <a:rPr dirty="0">
                <a:solidFill>
                  <a:srgbClr val="282C34"/>
                </a:solidFill>
                <a:latin typeface="Consolas"/>
              </a:rPr>
              <a:t> key </a:t>
            </a:r>
            <a:r>
              <a:rPr dirty="0">
                <a:solidFill>
                  <a:srgbClr val="7A0099"/>
                </a:solidFill>
                <a:latin typeface="Consolas"/>
              </a:rPr>
              <a:t>in</a:t>
            </a:r>
            <a:r>
              <a:rPr dirty="0">
                <a:solidFill>
                  <a:srgbClr val="282C34"/>
                </a:solidFill>
                <a:latin typeface="Consolas"/>
              </a:rPr>
              <a:t> </a:t>
            </a:r>
            <a:r>
              <a:rPr dirty="0">
                <a:solidFill>
                  <a:srgbClr val="228B22"/>
                </a:solidFill>
                <a:latin typeface="Consolas"/>
              </a:rPr>
              <a:t>'+-*/()!'</a:t>
            </a:r>
            <a:r>
              <a:rPr dirty="0">
                <a:solidFill>
                  <a:srgbClr val="282C34"/>
                </a:solidFill>
                <a:latin typeface="Consolas"/>
              </a:rPr>
              <a:t>:
        </a:t>
            </a:r>
            <a:r>
              <a:rPr dirty="0" err="1">
                <a:solidFill>
                  <a:srgbClr val="282C34"/>
                </a:solidFill>
                <a:latin typeface="Consolas"/>
              </a:rPr>
              <a:t>alt_keys</a:t>
            </a:r>
            <a:r>
              <a:rPr dirty="0">
                <a:solidFill>
                  <a:srgbClr val="282C34"/>
                </a:solidFill>
                <a:latin typeface="Consolas"/>
              </a:rPr>
              <a:t> = {</a:t>
            </a:r>
            <a:r>
              <a:rPr dirty="0">
                <a:solidFill>
                  <a:srgbClr val="228B22"/>
                </a:solidFill>
                <a:latin typeface="Consolas"/>
              </a:rPr>
              <a:t>'*'</a:t>
            </a:r>
            <a:r>
              <a:rPr dirty="0">
                <a:solidFill>
                  <a:srgbClr val="282C34"/>
                </a:solidFill>
                <a:latin typeface="Consolas"/>
              </a:rPr>
              <a:t>: </a:t>
            </a:r>
            <a:r>
              <a:rPr dirty="0">
                <a:solidFill>
                  <a:srgbClr val="228B22"/>
                </a:solidFill>
                <a:latin typeface="Consolas"/>
              </a:rPr>
              <a:t>'×'</a:t>
            </a:r>
            <a:r>
              <a:rPr dirty="0">
                <a:solidFill>
                  <a:srgbClr val="282C34"/>
                </a:solidFill>
                <a:latin typeface="Consolas"/>
              </a:rPr>
              <a:t>, </a:t>
            </a:r>
            <a:r>
              <a:rPr dirty="0">
                <a:solidFill>
                  <a:srgbClr val="228B22"/>
                </a:solidFill>
                <a:latin typeface="Consolas"/>
              </a:rPr>
              <a:t>'/'</a:t>
            </a:r>
            <a:r>
              <a:rPr dirty="0">
                <a:solidFill>
                  <a:srgbClr val="282C34"/>
                </a:solidFill>
                <a:latin typeface="Consolas"/>
              </a:rPr>
              <a:t>: </a:t>
            </a:r>
            <a:r>
              <a:rPr dirty="0">
                <a:solidFill>
                  <a:srgbClr val="228B22"/>
                </a:solidFill>
                <a:latin typeface="Consolas"/>
              </a:rPr>
              <a:t>'÷'</a:t>
            </a:r>
            <a:r>
              <a:rPr dirty="0">
                <a:solidFill>
                  <a:srgbClr val="282C34"/>
                </a:solidFill>
                <a:latin typeface="Consolas"/>
              </a:rPr>
              <a:t>}
</a:t>
            </a:r>
            <a:r>
              <a:rPr dirty="0">
                <a:solidFill>
                  <a:srgbClr val="006699"/>
                </a:solidFill>
                <a:latin typeface="Consolas"/>
              </a:rPr>
              <a:t>        </a:t>
            </a:r>
            <a:r>
              <a:rPr dirty="0" err="1">
                <a:solidFill>
                  <a:srgbClr val="006699"/>
                </a:solidFill>
                <a:latin typeface="Consolas"/>
              </a:rPr>
              <a:t>self</a:t>
            </a:r>
            <a:r>
              <a:rPr dirty="0" err="1">
                <a:solidFill>
                  <a:srgbClr val="282C34"/>
                </a:solidFill>
                <a:latin typeface="Consolas"/>
              </a:rPr>
              <a:t>.app_op</a:t>
            </a:r>
            <a:r>
              <a:rPr dirty="0">
                <a:solidFill>
                  <a:srgbClr val="282C34"/>
                </a:solidFill>
                <a:latin typeface="Consolas"/>
              </a:rPr>
              <a:t>(</a:t>
            </a:r>
            <a:r>
              <a:rPr dirty="0" err="1">
                <a:solidFill>
                  <a:srgbClr val="282C34"/>
                </a:solidFill>
                <a:latin typeface="Consolas"/>
              </a:rPr>
              <a:t>alt_keys.get</a:t>
            </a:r>
            <a:r>
              <a:rPr dirty="0">
                <a:solidFill>
                  <a:srgbClr val="282C34"/>
                </a:solidFill>
                <a:latin typeface="Consolas"/>
              </a:rPr>
              <a:t>(key, key))
</a:t>
            </a:r>
            <a:r>
              <a:rPr dirty="0">
                <a:solidFill>
                  <a:srgbClr val="7A0099"/>
                </a:solidFill>
                <a:latin typeface="Consolas"/>
              </a:rPr>
              <a:t>    </a:t>
            </a:r>
            <a:r>
              <a:rPr dirty="0" err="1">
                <a:solidFill>
                  <a:srgbClr val="7A0099"/>
                </a:solidFill>
                <a:latin typeface="Consolas"/>
              </a:rPr>
              <a:t>elif</a:t>
            </a:r>
            <a:r>
              <a:rPr dirty="0">
                <a:solidFill>
                  <a:srgbClr val="282C34"/>
                </a:solidFill>
                <a:latin typeface="Consolas"/>
              </a:rPr>
              <a:t> key </a:t>
            </a:r>
            <a:r>
              <a:rPr dirty="0">
                <a:solidFill>
                  <a:srgbClr val="7A0099"/>
                </a:solidFill>
                <a:latin typeface="Consolas"/>
              </a:rPr>
              <a:t>in</a:t>
            </a:r>
            <a:r>
              <a:rPr dirty="0">
                <a:solidFill>
                  <a:srgbClr val="282C34"/>
                </a:solidFill>
                <a:latin typeface="Consolas"/>
              </a:rPr>
              <a:t> [</a:t>
            </a:r>
            <a:r>
              <a:rPr dirty="0">
                <a:solidFill>
                  <a:srgbClr val="228B22"/>
                </a:solidFill>
                <a:latin typeface="Consolas"/>
              </a:rPr>
              <a:t>'\r'</a:t>
            </a:r>
            <a:r>
              <a:rPr dirty="0">
                <a:solidFill>
                  <a:srgbClr val="282C34"/>
                </a:solidFill>
                <a:latin typeface="Consolas"/>
              </a:rPr>
              <a:t>, </a:t>
            </a:r>
            <a:r>
              <a:rPr dirty="0">
                <a:solidFill>
                  <a:srgbClr val="228B22"/>
                </a:solidFill>
                <a:latin typeface="Consolas"/>
              </a:rPr>
              <a:t>'\n'</a:t>
            </a:r>
            <a:r>
              <a:rPr dirty="0">
                <a:solidFill>
                  <a:srgbClr val="282C34"/>
                </a:solidFill>
                <a:latin typeface="Consolas"/>
              </a:rPr>
              <a:t>, </a:t>
            </a:r>
            <a:r>
              <a:rPr dirty="0">
                <a:solidFill>
                  <a:srgbClr val="228B22"/>
                </a:solidFill>
                <a:latin typeface="Consolas"/>
              </a:rPr>
              <a:t>'='</a:t>
            </a:r>
            <a:r>
              <a:rPr dirty="0">
                <a:solidFill>
                  <a:srgbClr val="282C34"/>
                </a:solidFill>
                <a:latin typeface="Consolas"/>
              </a:rPr>
              <a:t>]:
</a:t>
            </a:r>
            <a:r>
              <a:rPr dirty="0">
                <a:solidFill>
                  <a:srgbClr val="006699"/>
                </a:solidFill>
                <a:latin typeface="Consolas"/>
              </a:rPr>
              <a:t>        </a:t>
            </a:r>
            <a:r>
              <a:rPr dirty="0" err="1">
                <a:solidFill>
                  <a:srgbClr val="006699"/>
                </a:solidFill>
                <a:latin typeface="Consolas"/>
              </a:rPr>
              <a:t>self</a:t>
            </a:r>
            <a:r>
              <a:rPr dirty="0" err="1">
                <a:solidFill>
                  <a:srgbClr val="282C34"/>
                </a:solidFill>
                <a:latin typeface="Consolas"/>
              </a:rPr>
              <a:t>.calc</a:t>
            </a:r>
            <a:r>
              <a:rPr dirty="0">
                <a:solidFill>
                  <a:srgbClr val="282C34"/>
                </a:solidFill>
                <a:latin typeface="Consolas"/>
              </a:rPr>
              <a:t>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584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Segoe UI"/>
              </a:defRPr>
            </a:pPr>
            <a:r>
              <a:rPr u="sng" dirty="0"/>
              <a:t>06. The Mathematical Evaluation Engine (calc)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657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E4164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85891"/>
            <a:ext cx="2560320" cy="3246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0C2340"/>
                </a:solidFill>
                <a:latin typeface="Segoe UI"/>
              </a:defRPr>
            </a:pPr>
            <a:r>
              <a:rPr sz="2000" dirty="0"/>
              <a:t>1. Character Sanitization</a:t>
            </a:r>
          </a:p>
          <a:p>
            <a:pPr>
              <a:lnSpc>
                <a:spcPct val="130000"/>
              </a:lnSpc>
              <a:defRPr sz="1300">
                <a:solidFill>
                  <a:srgbClr val="282C34"/>
                </a:solidFill>
                <a:latin typeface="Segoe UI"/>
              </a:defRPr>
            </a:pPr>
            <a:r>
              <a:rPr sz="2000" dirty="0"/>
              <a:t>Translates display formatting targets into raw Python execution operators (e.g., × -&gt; *, ÷ -&gt; /) seamlessly.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885890"/>
            <a:ext cx="2560320" cy="3246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E4164"/>
                </a:solidFill>
                <a:latin typeface="Segoe UI"/>
              </a:defRPr>
            </a:pPr>
            <a:r>
              <a:rPr sz="2000" dirty="0"/>
              <a:t>2. Regex Token Parsing</a:t>
            </a:r>
          </a:p>
          <a:p>
            <a:pPr>
              <a:lnSpc>
                <a:spcPct val="130000"/>
              </a:lnSpc>
              <a:defRPr sz="1300">
                <a:solidFill>
                  <a:srgbClr val="282C34"/>
                </a:solidFill>
                <a:latin typeface="Segoe UI"/>
              </a:defRPr>
            </a:pPr>
            <a:r>
              <a:rPr sz="2000" dirty="0"/>
              <a:t>Precomputes trailing operator patterns like '5!' into structural functional parameters like 'fact(5)' at run-time.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890807"/>
            <a:ext cx="2560320" cy="3246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0C2340"/>
                </a:solidFill>
                <a:latin typeface="Segoe UI"/>
              </a:defRPr>
            </a:pPr>
            <a:r>
              <a:rPr sz="2000" dirty="0"/>
              <a:t>3. Sandbox Evaluation</a:t>
            </a:r>
          </a:p>
          <a:p>
            <a:pPr>
              <a:lnSpc>
                <a:spcPct val="130000"/>
              </a:lnSpc>
              <a:defRPr sz="1300">
                <a:solidFill>
                  <a:srgbClr val="282C34"/>
                </a:solidFill>
                <a:latin typeface="Segoe UI"/>
              </a:defRPr>
            </a:pPr>
            <a:r>
              <a:rPr sz="2000" dirty="0"/>
              <a:t>Passes localized execution </a:t>
            </a:r>
            <a:r>
              <a:rPr sz="2000" dirty="0" err="1"/>
              <a:t>dicts</a:t>
            </a:r>
            <a:r>
              <a:rPr sz="2000" dirty="0"/>
              <a:t> safely while isolating native global built-in namespaces completely.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890807"/>
            <a:ext cx="2560320" cy="2846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E4164"/>
                </a:solidFill>
                <a:latin typeface="Segoe UI"/>
              </a:defRPr>
            </a:pPr>
            <a:r>
              <a:rPr sz="2000" dirty="0"/>
              <a:t>4. Error Trapping &amp; Recovery</a:t>
            </a:r>
          </a:p>
          <a:p>
            <a:pPr>
              <a:lnSpc>
                <a:spcPct val="130000"/>
              </a:lnSpc>
              <a:defRPr sz="1300">
                <a:solidFill>
                  <a:srgbClr val="282C34"/>
                </a:solidFill>
                <a:latin typeface="Segoe UI"/>
              </a:defRPr>
            </a:pPr>
            <a:r>
              <a:rPr sz="2000" dirty="0"/>
              <a:t>Intercepts arithmetic division faults or syntax errors to keep desktop framework sessions stable.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584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Segoe UI"/>
              </a:defRPr>
            </a:pPr>
            <a:r>
              <a:rPr u="sng" dirty="0"/>
              <a:t>07. Evaluation Security &amp; Sandboxing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657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E4164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486400" cy="2641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C2340"/>
                </a:solidFill>
                <a:latin typeface="Segoe UI"/>
              </a:defRPr>
            </a:pPr>
            <a:r>
              <a:rPr dirty="0"/>
              <a:t>Mitigating String Evaluation Risks</a:t>
            </a:r>
          </a:p>
          <a:p>
            <a:pPr>
              <a:spcAft>
                <a:spcPts val="12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dirty="0"/>
              <a:t>• Passing '__</a:t>
            </a:r>
            <a:r>
              <a:rPr dirty="0" err="1"/>
              <a:t>builtins</a:t>
            </a:r>
            <a:r>
              <a:rPr dirty="0"/>
              <a:t>__': None strips basic string parsing paths of malicious standard operations injection vulnerabilities.</a:t>
            </a:r>
          </a:p>
          <a:p>
            <a:pPr>
              <a:spcAft>
                <a:spcPts val="12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dirty="0"/>
              <a:t>• Locks down unsafe framework risks from command injection or system directory modifications entirely.</a:t>
            </a:r>
          </a:p>
          <a:p>
            <a:pPr>
              <a:spcAft>
                <a:spcPts val="12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dirty="0"/>
              <a:t>• Explicitly registers verified processing scopes through strict localized dictionary function bindings parameters.</a:t>
            </a:r>
          </a:p>
          <a:p>
            <a:pPr>
              <a:spcAft>
                <a:spcPts val="12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dirty="0"/>
              <a:t>• Allows standard mathematical execution functions while safely dropping unmapped shell execution pathway vectors.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79920" y="114300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4164"/>
                </a:solidFill>
                <a:latin typeface="Segoe UI"/>
              </a:defRPr>
            </a:pPr>
            <a:r>
              <a:rPr dirty="0">
                <a:solidFill>
                  <a:srgbClr val="0070C0"/>
                </a:solidFill>
              </a:rPr>
              <a:t>Secure Scope Dictionary Mapping</a:t>
            </a:r>
          </a:p>
          <a:p>
            <a:pPr>
              <a:lnSpc>
                <a:spcPct val="120000"/>
              </a:lnSpc>
            </a:pPr>
            <a:r>
              <a:rPr dirty="0" err="1">
                <a:solidFill>
                  <a:srgbClr val="282C34"/>
                </a:solidFill>
                <a:latin typeface="Consolas"/>
              </a:rPr>
              <a:t>dct</a:t>
            </a:r>
            <a:r>
              <a:rPr dirty="0">
                <a:solidFill>
                  <a:srgbClr val="282C34"/>
                </a:solidFill>
                <a:latin typeface="Consolas"/>
              </a:rPr>
              <a:t> = {
    </a:t>
            </a:r>
            <a:r>
              <a:rPr dirty="0">
                <a:solidFill>
                  <a:srgbClr val="228B22"/>
                </a:solidFill>
                <a:latin typeface="Consolas"/>
              </a:rPr>
              <a:t>'sin'</a:t>
            </a:r>
            <a:r>
              <a:rPr dirty="0">
                <a:solidFill>
                  <a:srgbClr val="282C34"/>
                </a:solidFill>
                <a:latin typeface="Consolas"/>
              </a:rPr>
              <a:t>: </a:t>
            </a:r>
            <a:r>
              <a:rPr dirty="0">
                <a:solidFill>
                  <a:srgbClr val="7A0099"/>
                </a:solidFill>
                <a:latin typeface="Consolas"/>
              </a:rPr>
              <a:t>lambda</a:t>
            </a:r>
            <a:r>
              <a:rPr dirty="0">
                <a:solidFill>
                  <a:srgbClr val="282C34"/>
                </a:solidFill>
                <a:latin typeface="Consolas"/>
              </a:rPr>
              <a:t> x: </a:t>
            </a:r>
            <a:r>
              <a:rPr dirty="0" err="1">
                <a:solidFill>
                  <a:srgbClr val="282C34"/>
                </a:solidFill>
                <a:latin typeface="Consolas"/>
              </a:rPr>
              <a:t>math.sin</a:t>
            </a:r>
            <a:r>
              <a:rPr dirty="0">
                <a:solidFill>
                  <a:srgbClr val="282C34"/>
                </a:solidFill>
                <a:latin typeface="Consolas"/>
              </a:rPr>
              <a:t>(d2r(x)),
    </a:t>
            </a:r>
            <a:r>
              <a:rPr dirty="0">
                <a:solidFill>
                  <a:srgbClr val="228B22"/>
                </a:solidFill>
                <a:latin typeface="Consolas"/>
              </a:rPr>
              <a:t>'cos'</a:t>
            </a:r>
            <a:r>
              <a:rPr dirty="0">
                <a:solidFill>
                  <a:srgbClr val="282C34"/>
                </a:solidFill>
                <a:latin typeface="Consolas"/>
              </a:rPr>
              <a:t>: </a:t>
            </a:r>
            <a:r>
              <a:rPr dirty="0">
                <a:solidFill>
                  <a:srgbClr val="7A0099"/>
                </a:solidFill>
                <a:latin typeface="Consolas"/>
              </a:rPr>
              <a:t>lambda</a:t>
            </a:r>
            <a:r>
              <a:rPr dirty="0">
                <a:solidFill>
                  <a:srgbClr val="282C34"/>
                </a:solidFill>
                <a:latin typeface="Consolas"/>
              </a:rPr>
              <a:t> x: </a:t>
            </a:r>
            <a:r>
              <a:rPr dirty="0" err="1">
                <a:solidFill>
                  <a:srgbClr val="282C34"/>
                </a:solidFill>
                <a:latin typeface="Consolas"/>
              </a:rPr>
              <a:t>math.cos</a:t>
            </a:r>
            <a:r>
              <a:rPr dirty="0">
                <a:solidFill>
                  <a:srgbClr val="282C34"/>
                </a:solidFill>
                <a:latin typeface="Consolas"/>
              </a:rPr>
              <a:t>(d2r(x)),
    </a:t>
            </a:r>
            <a:r>
              <a:rPr dirty="0">
                <a:solidFill>
                  <a:srgbClr val="228B22"/>
                </a:solidFill>
                <a:latin typeface="Consolas"/>
              </a:rPr>
              <a:t>'</a:t>
            </a:r>
            <a:r>
              <a:rPr dirty="0" err="1">
                <a:solidFill>
                  <a:srgbClr val="228B22"/>
                </a:solidFill>
                <a:latin typeface="Consolas"/>
              </a:rPr>
              <a:t>arcsin</a:t>
            </a:r>
            <a:r>
              <a:rPr dirty="0">
                <a:solidFill>
                  <a:srgbClr val="228B22"/>
                </a:solidFill>
                <a:latin typeface="Consolas"/>
              </a:rPr>
              <a:t>'</a:t>
            </a:r>
            <a:r>
              <a:rPr dirty="0">
                <a:solidFill>
                  <a:srgbClr val="282C34"/>
                </a:solidFill>
                <a:latin typeface="Consolas"/>
              </a:rPr>
              <a:t>: </a:t>
            </a:r>
            <a:r>
              <a:rPr dirty="0">
                <a:solidFill>
                  <a:srgbClr val="7A0099"/>
                </a:solidFill>
                <a:latin typeface="Consolas"/>
              </a:rPr>
              <a:t>lambda</a:t>
            </a:r>
            <a:r>
              <a:rPr dirty="0">
                <a:solidFill>
                  <a:srgbClr val="282C34"/>
                </a:solidFill>
                <a:latin typeface="Consolas"/>
              </a:rPr>
              <a:t> x: r2d(</a:t>
            </a:r>
            <a:r>
              <a:rPr dirty="0" err="1">
                <a:solidFill>
                  <a:srgbClr val="282C34"/>
                </a:solidFill>
                <a:latin typeface="Consolas"/>
              </a:rPr>
              <a:t>math.asin</a:t>
            </a:r>
            <a:r>
              <a:rPr dirty="0">
                <a:solidFill>
                  <a:srgbClr val="282C34"/>
                </a:solidFill>
                <a:latin typeface="Consolas"/>
              </a:rPr>
              <a:t>(x)),
    </a:t>
            </a:r>
            <a:r>
              <a:rPr dirty="0">
                <a:solidFill>
                  <a:srgbClr val="228B22"/>
                </a:solidFill>
                <a:latin typeface="Consolas"/>
              </a:rPr>
              <a:t>'log'</a:t>
            </a:r>
            <a:r>
              <a:rPr dirty="0">
                <a:solidFill>
                  <a:srgbClr val="282C34"/>
                </a:solidFill>
                <a:latin typeface="Consolas"/>
              </a:rPr>
              <a:t>: </a:t>
            </a:r>
            <a:r>
              <a:rPr dirty="0">
                <a:solidFill>
                  <a:srgbClr val="7A0099"/>
                </a:solidFill>
                <a:latin typeface="Consolas"/>
              </a:rPr>
              <a:t>lambda</a:t>
            </a:r>
            <a:r>
              <a:rPr dirty="0">
                <a:solidFill>
                  <a:srgbClr val="282C34"/>
                </a:solidFill>
                <a:latin typeface="Consolas"/>
              </a:rPr>
              <a:t> x: math.log10(x),
    </a:t>
            </a:r>
            <a:r>
              <a:rPr dirty="0">
                <a:solidFill>
                  <a:srgbClr val="228B22"/>
                </a:solidFill>
                <a:latin typeface="Consolas"/>
              </a:rPr>
              <a:t>'fact'</a:t>
            </a:r>
            <a:r>
              <a:rPr dirty="0">
                <a:solidFill>
                  <a:srgbClr val="282C34"/>
                </a:solidFill>
                <a:latin typeface="Consolas"/>
              </a:rPr>
              <a:t>: </a:t>
            </a:r>
            <a:r>
              <a:rPr dirty="0">
                <a:solidFill>
                  <a:srgbClr val="7A0099"/>
                </a:solidFill>
                <a:latin typeface="Consolas"/>
              </a:rPr>
              <a:t>lambda</a:t>
            </a:r>
            <a:r>
              <a:rPr dirty="0">
                <a:solidFill>
                  <a:srgbClr val="282C34"/>
                </a:solidFill>
                <a:latin typeface="Consolas"/>
              </a:rPr>
              <a:t> x: </a:t>
            </a:r>
            <a:r>
              <a:rPr dirty="0" err="1">
                <a:solidFill>
                  <a:srgbClr val="282C34"/>
                </a:solidFill>
                <a:latin typeface="Consolas"/>
              </a:rPr>
              <a:t>math.factorial</a:t>
            </a:r>
            <a:r>
              <a:rPr dirty="0">
                <a:solidFill>
                  <a:srgbClr val="282C34"/>
                </a:solidFill>
                <a:latin typeface="Consolas"/>
              </a:rPr>
              <a:t>(</a:t>
            </a:r>
            <a:r>
              <a:rPr dirty="0">
                <a:solidFill>
                  <a:srgbClr val="006699"/>
                </a:solidFill>
                <a:latin typeface="Consolas"/>
              </a:rPr>
              <a:t>int</a:t>
            </a:r>
            <a:r>
              <a:rPr dirty="0">
                <a:solidFill>
                  <a:srgbClr val="282C34"/>
                </a:solidFill>
                <a:latin typeface="Consolas"/>
              </a:rPr>
              <a:t>(x))
}
</a:t>
            </a:r>
            <a:r>
              <a:rPr dirty="0">
                <a:solidFill>
                  <a:srgbClr val="7F8C8D"/>
                </a:solidFill>
                <a:latin typeface="Consolas"/>
              </a:rPr>
              <a:t># Execution Endpoint
</a:t>
            </a:r>
            <a:r>
              <a:rPr dirty="0">
                <a:solidFill>
                  <a:srgbClr val="282C34"/>
                </a:solidFill>
                <a:latin typeface="Consolas"/>
              </a:rPr>
              <a:t>res = </a:t>
            </a:r>
            <a:r>
              <a:rPr dirty="0">
                <a:solidFill>
                  <a:srgbClr val="006699"/>
                </a:solidFill>
                <a:latin typeface="Consolas"/>
              </a:rPr>
              <a:t>eval</a:t>
            </a:r>
            <a:r>
              <a:rPr dirty="0">
                <a:solidFill>
                  <a:srgbClr val="282C34"/>
                </a:solidFill>
                <a:latin typeface="Consolas"/>
              </a:rPr>
              <a:t>(s, {</a:t>
            </a:r>
            <a:r>
              <a:rPr dirty="0">
                <a:solidFill>
                  <a:srgbClr val="228B22"/>
                </a:solidFill>
                <a:latin typeface="Consolas"/>
              </a:rPr>
              <a:t>'__</a:t>
            </a:r>
            <a:r>
              <a:rPr dirty="0" err="1">
                <a:solidFill>
                  <a:srgbClr val="228B22"/>
                </a:solidFill>
                <a:latin typeface="Consolas"/>
              </a:rPr>
              <a:t>builtins</a:t>
            </a:r>
            <a:r>
              <a:rPr dirty="0">
                <a:solidFill>
                  <a:srgbClr val="228B22"/>
                </a:solidFill>
                <a:latin typeface="Consolas"/>
              </a:rPr>
              <a:t>__'</a:t>
            </a:r>
            <a:r>
              <a:rPr dirty="0">
                <a:solidFill>
                  <a:srgbClr val="282C34"/>
                </a:solidFill>
                <a:latin typeface="Consolas"/>
              </a:rPr>
              <a:t>: </a:t>
            </a:r>
            <a:r>
              <a:rPr dirty="0">
                <a:solidFill>
                  <a:srgbClr val="7A0099"/>
                </a:solidFill>
                <a:latin typeface="Consolas"/>
              </a:rPr>
              <a:t>None</a:t>
            </a:r>
            <a:r>
              <a:rPr dirty="0">
                <a:solidFill>
                  <a:srgbClr val="282C34"/>
                </a:solidFill>
                <a:latin typeface="Consolas"/>
              </a:rPr>
              <a:t>}, </a:t>
            </a:r>
            <a:r>
              <a:rPr dirty="0" err="1">
                <a:solidFill>
                  <a:srgbClr val="282C34"/>
                </a:solidFill>
                <a:latin typeface="Consolas"/>
              </a:rPr>
              <a:t>dct</a:t>
            </a:r>
            <a:r>
              <a:rPr dirty="0">
                <a:solidFill>
                  <a:srgbClr val="282C34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584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Segoe UI"/>
              </a:defRPr>
            </a:pPr>
            <a:r>
              <a:rPr sz="3200" u="sng" dirty="0"/>
              <a:t>08. Persistent History Panel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657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E4164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486400" cy="2641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C2340"/>
                </a:solidFill>
                <a:latin typeface="Segoe UI"/>
              </a:defRPr>
            </a:pPr>
            <a:r>
              <a:rPr dirty="0">
                <a:solidFill>
                  <a:srgbClr val="00B0F0"/>
                </a:solidFill>
              </a:rPr>
              <a:t>Log Capture &amp; Timeline Buffers</a:t>
            </a:r>
          </a:p>
          <a:p>
            <a:pPr>
              <a:spcAft>
                <a:spcPts val="12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dirty="0"/>
              <a:t>• Asynchronously writes verified computations straight into an isolated </a:t>
            </a:r>
            <a:r>
              <a:rPr dirty="0" err="1"/>
              <a:t>Tkinter</a:t>
            </a:r>
            <a:r>
              <a:rPr dirty="0"/>
              <a:t> </a:t>
            </a:r>
            <a:r>
              <a:rPr dirty="0" err="1"/>
              <a:t>Listbox</a:t>
            </a:r>
            <a:r>
              <a:rPr dirty="0"/>
              <a:t> widget array.</a:t>
            </a:r>
          </a:p>
          <a:p>
            <a:pPr>
              <a:spcAft>
                <a:spcPts val="12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dirty="0"/>
              <a:t>• Implements automated timeline vertical scrolling updates to focus visibility on recent evaluations.</a:t>
            </a:r>
          </a:p>
          <a:p>
            <a:pPr>
              <a:spcAft>
                <a:spcPts val="12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dirty="0"/>
              <a:t>• Hooks standard mouse double-click event triggers directly to history recovery execution pipelines.</a:t>
            </a:r>
          </a:p>
          <a:p>
            <a:pPr>
              <a:spcAft>
                <a:spcPts val="12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dirty="0"/>
              <a:t>• Parses selected log text records to recall expression details instantly back into the main workspace.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43251" y="1321456"/>
            <a:ext cx="5212080" cy="4820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4164"/>
                </a:solidFill>
                <a:latin typeface="Segoe U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Event Double-Click Retrieval Handler</a:t>
            </a:r>
          </a:p>
          <a:p>
            <a:pPr>
              <a:lnSpc>
                <a:spcPct val="120000"/>
              </a:lnSpc>
            </a:pPr>
            <a:r>
              <a:rPr dirty="0">
                <a:solidFill>
                  <a:srgbClr val="7A0099"/>
                </a:solidFill>
                <a:latin typeface="Consolas"/>
              </a:rPr>
              <a:t>def</a:t>
            </a:r>
            <a:r>
              <a:rPr dirty="0">
                <a:solidFill>
                  <a:srgbClr val="282C34"/>
                </a:solidFill>
                <a:latin typeface="Consolas"/>
              </a:rPr>
              <a:t> </a:t>
            </a:r>
            <a:r>
              <a:rPr dirty="0" err="1">
                <a:solidFill>
                  <a:srgbClr val="006699"/>
                </a:solidFill>
                <a:latin typeface="Consolas"/>
              </a:rPr>
              <a:t>load_hist</a:t>
            </a:r>
            <a:r>
              <a:rPr dirty="0">
                <a:solidFill>
                  <a:srgbClr val="282C34"/>
                </a:solidFill>
                <a:latin typeface="Consolas"/>
              </a:rPr>
              <a:t>(</a:t>
            </a:r>
            <a:r>
              <a:rPr dirty="0">
                <a:solidFill>
                  <a:srgbClr val="006699"/>
                </a:solidFill>
                <a:latin typeface="Consolas"/>
              </a:rPr>
              <a:t>self</a:t>
            </a:r>
            <a:r>
              <a:rPr dirty="0">
                <a:solidFill>
                  <a:srgbClr val="282C34"/>
                </a:solidFill>
                <a:latin typeface="Consolas"/>
              </a:rPr>
              <a:t>, e):
</a:t>
            </a:r>
            <a:r>
              <a:rPr dirty="0">
                <a:solidFill>
                  <a:srgbClr val="7A0099"/>
                </a:solidFill>
                <a:latin typeface="Consolas"/>
              </a:rPr>
              <a:t>    try:
</a:t>
            </a:r>
            <a:r>
              <a:rPr dirty="0">
                <a:solidFill>
                  <a:srgbClr val="282C34"/>
                </a:solidFill>
                <a:latin typeface="Consolas"/>
              </a:rPr>
              <a:t>        </a:t>
            </a:r>
            <a:r>
              <a:rPr dirty="0" err="1">
                <a:solidFill>
                  <a:srgbClr val="282C34"/>
                </a:solidFill>
                <a:latin typeface="Consolas"/>
              </a:rPr>
              <a:t>idx</a:t>
            </a:r>
            <a:r>
              <a:rPr dirty="0">
                <a:solidFill>
                  <a:srgbClr val="282C34"/>
                </a:solidFill>
                <a:latin typeface="Consolas"/>
              </a:rPr>
              <a:t> = </a:t>
            </a:r>
            <a:r>
              <a:rPr dirty="0" err="1">
                <a:solidFill>
                  <a:srgbClr val="006699"/>
                </a:solidFill>
                <a:latin typeface="Consolas"/>
              </a:rPr>
              <a:t>self</a:t>
            </a:r>
            <a:r>
              <a:rPr dirty="0" err="1">
                <a:solidFill>
                  <a:srgbClr val="282C34"/>
                </a:solidFill>
                <a:latin typeface="Consolas"/>
              </a:rPr>
              <a:t>.history_listbox.curselection</a:t>
            </a:r>
            <a:r>
              <a:rPr dirty="0">
                <a:solidFill>
                  <a:srgbClr val="282C34"/>
                </a:solidFill>
                <a:latin typeface="Consolas"/>
              </a:rPr>
              <a:t>()
        </a:t>
            </a:r>
            <a:r>
              <a:rPr dirty="0" err="1">
                <a:solidFill>
                  <a:srgbClr val="282C34"/>
                </a:solidFill>
                <a:latin typeface="Consolas"/>
              </a:rPr>
              <a:t>sel</a:t>
            </a:r>
            <a:r>
              <a:rPr dirty="0">
                <a:solidFill>
                  <a:srgbClr val="282C34"/>
                </a:solidFill>
                <a:latin typeface="Consolas"/>
              </a:rPr>
              <a:t> = </a:t>
            </a:r>
            <a:r>
              <a:rPr dirty="0" err="1">
                <a:solidFill>
                  <a:srgbClr val="006699"/>
                </a:solidFill>
                <a:latin typeface="Consolas"/>
              </a:rPr>
              <a:t>self</a:t>
            </a:r>
            <a:r>
              <a:rPr dirty="0" err="1">
                <a:solidFill>
                  <a:srgbClr val="282C34"/>
                </a:solidFill>
                <a:latin typeface="Consolas"/>
              </a:rPr>
              <a:t>.history_listbox.get</a:t>
            </a:r>
            <a:r>
              <a:rPr dirty="0">
                <a:solidFill>
                  <a:srgbClr val="282C34"/>
                </a:solidFill>
                <a:latin typeface="Consolas"/>
              </a:rPr>
              <a:t>(</a:t>
            </a:r>
            <a:r>
              <a:rPr dirty="0" err="1">
                <a:solidFill>
                  <a:srgbClr val="282C34"/>
                </a:solidFill>
                <a:latin typeface="Consolas"/>
              </a:rPr>
              <a:t>idx</a:t>
            </a:r>
            <a:r>
              <a:rPr dirty="0">
                <a:solidFill>
                  <a:srgbClr val="282C34"/>
                </a:solidFill>
                <a:latin typeface="Consolas"/>
              </a:rPr>
              <a:t>)
</a:t>
            </a:r>
            <a:r>
              <a:rPr dirty="0">
                <a:solidFill>
                  <a:srgbClr val="7F8C8D"/>
                </a:solidFill>
                <a:latin typeface="Consolas"/>
              </a:rPr>
              <a:t>        # Isolates expression out of 'Expr = Result'
</a:t>
            </a:r>
            <a:r>
              <a:rPr dirty="0">
                <a:solidFill>
                  <a:srgbClr val="006699"/>
                </a:solidFill>
                <a:latin typeface="Consolas"/>
              </a:rPr>
              <a:t>        </a:t>
            </a:r>
            <a:r>
              <a:rPr dirty="0" err="1">
                <a:solidFill>
                  <a:srgbClr val="006699"/>
                </a:solidFill>
                <a:latin typeface="Consolas"/>
              </a:rPr>
              <a:t>self</a:t>
            </a:r>
            <a:r>
              <a:rPr dirty="0" err="1">
                <a:solidFill>
                  <a:srgbClr val="282C34"/>
                </a:solidFill>
                <a:latin typeface="Consolas"/>
              </a:rPr>
              <a:t>.current_expr</a:t>
            </a:r>
            <a:r>
              <a:rPr dirty="0">
                <a:solidFill>
                  <a:srgbClr val="282C34"/>
                </a:solidFill>
                <a:latin typeface="Consolas"/>
              </a:rPr>
              <a:t> = </a:t>
            </a:r>
            <a:r>
              <a:rPr dirty="0" err="1">
                <a:solidFill>
                  <a:srgbClr val="282C34"/>
                </a:solidFill>
                <a:latin typeface="Consolas"/>
              </a:rPr>
              <a:t>sel.split</a:t>
            </a:r>
            <a:r>
              <a:rPr dirty="0">
                <a:solidFill>
                  <a:srgbClr val="282C34"/>
                </a:solidFill>
                <a:latin typeface="Consolas"/>
              </a:rPr>
              <a:t>(</a:t>
            </a:r>
            <a:r>
              <a:rPr dirty="0">
                <a:solidFill>
                  <a:srgbClr val="228B22"/>
                </a:solidFill>
                <a:latin typeface="Consolas"/>
              </a:rPr>
              <a:t>'='</a:t>
            </a:r>
            <a:r>
              <a:rPr dirty="0">
                <a:solidFill>
                  <a:srgbClr val="282C34"/>
                </a:solidFill>
                <a:latin typeface="Consolas"/>
              </a:rPr>
              <a:t>)[</a:t>
            </a:r>
            <a:r>
              <a:rPr dirty="0">
                <a:solidFill>
                  <a:srgbClr val="B45F06"/>
                </a:solidFill>
                <a:latin typeface="Consolas"/>
              </a:rPr>
              <a:t>0</a:t>
            </a:r>
            <a:r>
              <a:rPr dirty="0">
                <a:solidFill>
                  <a:srgbClr val="282C34"/>
                </a:solidFill>
                <a:latin typeface="Consolas"/>
              </a:rPr>
              <a:t>].strip()
</a:t>
            </a:r>
            <a:r>
              <a:rPr dirty="0">
                <a:solidFill>
                  <a:srgbClr val="006699"/>
                </a:solidFill>
                <a:latin typeface="Consolas"/>
              </a:rPr>
              <a:t>        </a:t>
            </a:r>
            <a:r>
              <a:rPr dirty="0" err="1">
                <a:solidFill>
                  <a:srgbClr val="006699"/>
                </a:solidFill>
                <a:latin typeface="Consolas"/>
              </a:rPr>
              <a:t>self</a:t>
            </a:r>
            <a:r>
              <a:rPr dirty="0" err="1">
                <a:solidFill>
                  <a:srgbClr val="282C34"/>
                </a:solidFill>
                <a:latin typeface="Consolas"/>
              </a:rPr>
              <a:t>.update_dis</a:t>
            </a:r>
            <a:r>
              <a:rPr dirty="0">
                <a:solidFill>
                  <a:srgbClr val="282C34"/>
                </a:solidFill>
                <a:latin typeface="Consolas"/>
              </a:rPr>
              <a:t>()
</a:t>
            </a:r>
            <a:r>
              <a:rPr dirty="0">
                <a:solidFill>
                  <a:srgbClr val="7A0099"/>
                </a:solidFill>
                <a:latin typeface="Consolas"/>
              </a:rPr>
              <a:t>    except</a:t>
            </a:r>
            <a:r>
              <a:rPr dirty="0">
                <a:solidFill>
                  <a:srgbClr val="282C34"/>
                </a:solidFill>
                <a:latin typeface="Consolas"/>
              </a:rPr>
              <a:t> </a:t>
            </a:r>
            <a:r>
              <a:rPr dirty="0">
                <a:solidFill>
                  <a:srgbClr val="006699"/>
                </a:solidFill>
                <a:latin typeface="Consolas"/>
              </a:rPr>
              <a:t>Exception</a:t>
            </a:r>
            <a:r>
              <a:rPr dirty="0">
                <a:solidFill>
                  <a:srgbClr val="7A0099"/>
                </a:solidFill>
                <a:latin typeface="Consolas"/>
              </a:rPr>
              <a:t>:
        pass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5558" y="218696"/>
            <a:ext cx="100584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Segoe UI"/>
              </a:defRPr>
            </a:pPr>
            <a:r>
              <a:rPr sz="3200" u="sng" dirty="0"/>
              <a:t>09. System Audit &amp; QA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1822" y="14344"/>
            <a:ext cx="47961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E4164"/>
                </a:solidFill>
                <a:latin typeface="Segoe UI"/>
              </a:defRPr>
            </a:pPr>
            <a:r>
              <a:rPr sz="2000"/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559" y="1259664"/>
            <a:ext cx="5303520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B42828"/>
                </a:solidFill>
                <a:latin typeface="Segoe UI"/>
              </a:defRPr>
            </a:pPr>
            <a:r>
              <a:rPr dirty="0"/>
              <a:t>Identified Issues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dirty="0"/>
              <a:t>• Input Interface Interruption: Incomplete physical keyboard listener layouts cut off character mapping pipelines halfway through runtime executions.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dirty="0"/>
              <a:t>• Token Standardization Mismatch: Structural discrepancy identified between the front-end user interface labels (</a:t>
            </a:r>
            <a:r>
              <a:rPr dirty="0" err="1"/>
              <a:t>asin</a:t>
            </a:r>
            <a:r>
              <a:rPr dirty="0"/>
              <a:t>) and back-end execution keys (</a:t>
            </a:r>
            <a:r>
              <a:rPr dirty="0" err="1"/>
              <a:t>arcsin</a:t>
            </a:r>
            <a:r>
              <a:rPr dirty="0"/>
              <a:t>).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dirty="0"/>
              <a:t>• Syntax Format Bottlenecks: Standard left-to-right calculation evaluation models caused runtime crashes when encountering trailing factorials (!).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dirty="0"/>
              <a:t>• Unprotected Failure Risks: Exposed core calculation execution loops lacked fallback boundaries, risking complete system crashes during mathematical errors.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10573" y="1258452"/>
            <a:ext cx="5303520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288C28"/>
                </a:solidFill>
                <a:latin typeface="Segoe UI"/>
              </a:defRPr>
            </a:pPr>
            <a:r>
              <a:rPr dirty="0"/>
              <a:t>Applied Resolutions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dirty="0"/>
              <a:t>• Pipeline Integration: Deployed a synchronized event listener system to capture, filter, and map keystroke inputs flawlessly.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dirty="0"/>
              <a:t>• Lexicon Unification: Standardized functional lookups directly to sync key entries precisely with UI display triggers.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dirty="0"/>
              <a:t>• Pre-Processing Implementation: Embedded a regular expression parser wrapper (</a:t>
            </a:r>
            <a:r>
              <a:rPr dirty="0" err="1"/>
              <a:t>re.sub</a:t>
            </a:r>
            <a:r>
              <a:rPr dirty="0"/>
              <a:t>) to reformat trailing factorials ahead of evaluation runtime paths.</a:t>
            </a:r>
          </a:p>
          <a:p>
            <a:pPr>
              <a:spcAft>
                <a:spcPts val="1000"/>
              </a:spcAft>
              <a:defRPr sz="1300">
                <a:solidFill>
                  <a:srgbClr val="282C34"/>
                </a:solidFill>
                <a:latin typeface="Segoe UI"/>
              </a:defRPr>
            </a:pPr>
            <a:r>
              <a:rPr dirty="0"/>
              <a:t>• Fail-Safe Deployment: Wrapped active execution loops inside exception gates that print an 'Error' string instead of throwing a terminal process crash.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B50555-37AA-21CA-C7A4-29DA6833E533}"/>
              </a:ext>
            </a:extLst>
          </p:cNvPr>
          <p:cNvSpPr txBox="1"/>
          <p:nvPr/>
        </p:nvSpPr>
        <p:spPr>
          <a:xfrm>
            <a:off x="1041063" y="532972"/>
            <a:ext cx="10273553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4164"/>
                </a:solidFill>
              </a:defRPr>
            </a:pPr>
            <a:r>
              <a:rPr lang="en-IN" sz="2000" dirty="0">
                <a:solidFill>
                  <a:schemeClr val="bg2">
                    <a:lumMod val="10000"/>
                  </a:schemeClr>
                </a:solidFill>
              </a:rPr>
              <a:t>[ User Action / Keystroke Input ]</a:t>
            </a:r>
          </a:p>
          <a:p>
            <a:pPr>
              <a:spcAft>
                <a:spcPts val="1200"/>
              </a:spcAft>
              <a:defRPr sz="1800" b="1">
                <a:solidFill>
                  <a:srgbClr val="1E4164"/>
                </a:solidFill>
              </a:defRPr>
            </a:pPr>
            <a:r>
              <a:rPr lang="en-IN" sz="2000" dirty="0">
                <a:solidFill>
                  <a:schemeClr val="bg2">
                    <a:lumMod val="10000"/>
                  </a:schemeClr>
                </a:solidFill>
              </a:rPr>
              <a:t>               ▼</a:t>
            </a:r>
          </a:p>
          <a:p>
            <a:pPr>
              <a:spcAft>
                <a:spcPts val="1200"/>
              </a:spcAft>
              <a:defRPr sz="1800" b="1">
                <a:solidFill>
                  <a:srgbClr val="1E4164"/>
                </a:solidFill>
              </a:defRPr>
            </a:pPr>
            <a:r>
              <a:rPr lang="en-IN" sz="2000" dirty="0">
                <a:solidFill>
                  <a:schemeClr val="bg2">
                    <a:lumMod val="10000"/>
                  </a:schemeClr>
                </a:solidFill>
              </a:rPr>
              <a:t>   [ Hardware Capture Layer ]  ──────► Intercepts event characters via </a:t>
            </a:r>
            <a:r>
              <a:rPr lang="en-IN" sz="2000" dirty="0" err="1">
                <a:solidFill>
                  <a:schemeClr val="bg2">
                    <a:lumMod val="10000"/>
                  </a:schemeClr>
                </a:solidFill>
              </a:rPr>
              <a:t>kbd</a:t>
            </a:r>
            <a:r>
              <a:rPr lang="en-IN" sz="2000" dirty="0">
                <a:solidFill>
                  <a:schemeClr val="bg2">
                    <a:lumMod val="10000"/>
                  </a:schemeClr>
                </a:solidFill>
              </a:rPr>
              <a:t>()</a:t>
            </a:r>
          </a:p>
          <a:p>
            <a:pPr>
              <a:spcAft>
                <a:spcPts val="1200"/>
              </a:spcAft>
              <a:defRPr sz="1800" b="1">
                <a:solidFill>
                  <a:srgbClr val="1E4164"/>
                </a:solidFill>
              </a:defRPr>
            </a:pPr>
            <a:r>
              <a:rPr lang="en-IN" sz="2000" dirty="0">
                <a:solidFill>
                  <a:schemeClr val="bg2">
                    <a:lumMod val="10000"/>
                  </a:schemeClr>
                </a:solidFill>
              </a:rPr>
              <a:t>               ▼</a:t>
            </a:r>
          </a:p>
          <a:p>
            <a:pPr>
              <a:spcAft>
                <a:spcPts val="1200"/>
              </a:spcAft>
              <a:defRPr sz="1800" b="1">
                <a:solidFill>
                  <a:srgbClr val="1E4164"/>
                </a:solidFill>
              </a:defRPr>
            </a:pPr>
            <a:r>
              <a:rPr lang="en-IN" sz="2000" dirty="0">
                <a:solidFill>
                  <a:schemeClr val="bg2">
                    <a:lumMod val="10000"/>
                  </a:schemeClr>
                </a:solidFill>
              </a:rPr>
              <a:t>  [ Pre-Processing Engine ]   ──────► Sanitizes operators &amp; handles '!' via </a:t>
            </a:r>
            <a:r>
              <a:rPr lang="en-IN" sz="2000" dirty="0" err="1">
                <a:solidFill>
                  <a:schemeClr val="bg2">
                    <a:lumMod val="10000"/>
                  </a:schemeClr>
                </a:solidFill>
              </a:rPr>
              <a:t>RegEx</a:t>
            </a:r>
            <a:endParaRPr lang="en-IN" sz="2000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Aft>
                <a:spcPts val="1200"/>
              </a:spcAft>
              <a:defRPr sz="1800" b="1">
                <a:solidFill>
                  <a:srgbClr val="1E4164"/>
                </a:solidFill>
              </a:defRPr>
            </a:pPr>
            <a:r>
              <a:rPr lang="en-IN" sz="2000" dirty="0">
                <a:solidFill>
                  <a:schemeClr val="bg2">
                    <a:lumMod val="10000"/>
                  </a:schemeClr>
                </a:solidFill>
              </a:rPr>
              <a:t>               ▼</a:t>
            </a:r>
          </a:p>
          <a:p>
            <a:pPr>
              <a:spcAft>
                <a:spcPts val="1200"/>
              </a:spcAft>
              <a:defRPr sz="1800" b="1">
                <a:solidFill>
                  <a:srgbClr val="1E4164"/>
                </a:solidFill>
              </a:defRPr>
            </a:pPr>
            <a:r>
              <a:rPr lang="en-IN" sz="2000" dirty="0">
                <a:solidFill>
                  <a:schemeClr val="bg2">
                    <a:lumMod val="10000"/>
                  </a:schemeClr>
                </a:solidFill>
              </a:rPr>
              <a:t> [ Execution Security Sandbox ] ────► Evaluates expression safely via eval()</a:t>
            </a:r>
          </a:p>
          <a:p>
            <a:pPr>
              <a:spcAft>
                <a:spcPts val="1200"/>
              </a:spcAft>
              <a:defRPr sz="1800" b="1">
                <a:solidFill>
                  <a:srgbClr val="1E4164"/>
                </a:solidFill>
              </a:defRPr>
            </a:pPr>
            <a:r>
              <a:rPr lang="en-IN" sz="2000" dirty="0">
                <a:solidFill>
                  <a:schemeClr val="bg2">
                    <a:lumMod val="10000"/>
                  </a:schemeClr>
                </a:solidFill>
              </a:rPr>
              <a:t>       ┌───────┴───────┐</a:t>
            </a:r>
          </a:p>
          <a:p>
            <a:pPr>
              <a:spcAft>
                <a:spcPts val="1200"/>
              </a:spcAft>
              <a:defRPr sz="1800" b="1">
                <a:solidFill>
                  <a:srgbClr val="1E4164"/>
                </a:solidFill>
              </a:defRPr>
            </a:pPr>
            <a:r>
              <a:rPr lang="en-IN" sz="2000" dirty="0">
                <a:solidFill>
                  <a:schemeClr val="bg2">
                    <a:lumMod val="10000"/>
                  </a:schemeClr>
                </a:solidFill>
              </a:rPr>
              <a:t>       ▼               ▼</a:t>
            </a:r>
          </a:p>
          <a:p>
            <a:pPr>
              <a:spcAft>
                <a:spcPts val="1200"/>
              </a:spcAft>
              <a:defRPr sz="1800" b="1">
                <a:solidFill>
                  <a:srgbClr val="1E4164"/>
                </a:solidFill>
              </a:defRPr>
            </a:pPr>
            <a:r>
              <a:rPr lang="en-IN" sz="2000" dirty="0">
                <a:solidFill>
                  <a:schemeClr val="bg2">
                    <a:lumMod val="10000"/>
                  </a:schemeClr>
                </a:solidFill>
              </a:rPr>
              <a:t>[ Success Path ] [ Failure Path ]</a:t>
            </a:r>
          </a:p>
          <a:p>
            <a:pPr>
              <a:spcAft>
                <a:spcPts val="1200"/>
              </a:spcAft>
              <a:defRPr sz="1800" b="1">
                <a:solidFill>
                  <a:srgbClr val="1E4164"/>
                </a:solidFill>
              </a:defRPr>
            </a:pPr>
            <a:r>
              <a:rPr lang="en-IN" sz="2000" dirty="0">
                <a:solidFill>
                  <a:schemeClr val="bg2">
                    <a:lumMod val="10000"/>
                  </a:schemeClr>
                </a:solidFill>
              </a:rPr>
              <a:t>       ▼               ▼</a:t>
            </a:r>
          </a:p>
          <a:p>
            <a:pPr>
              <a:spcAft>
                <a:spcPts val="1200"/>
              </a:spcAft>
              <a:defRPr sz="1800" b="1">
                <a:solidFill>
                  <a:srgbClr val="1E4164"/>
                </a:solidFill>
              </a:defRPr>
            </a:pPr>
            <a:r>
              <a:rPr lang="en-IN" sz="2000" dirty="0">
                <a:solidFill>
                  <a:schemeClr val="bg2">
                    <a:lumMod val="10000"/>
                  </a:schemeClr>
                </a:solidFill>
              </a:rPr>
              <a:t>[ Log to </a:t>
            </a:r>
            <a:r>
              <a:rPr lang="en-IN" sz="2000" dirty="0" err="1">
                <a:solidFill>
                  <a:schemeClr val="bg2">
                    <a:lumMod val="10000"/>
                  </a:schemeClr>
                </a:solidFill>
              </a:rPr>
              <a:t>Listbox</a:t>
            </a:r>
            <a:r>
              <a:rPr lang="en-IN" sz="2000" dirty="0">
                <a:solidFill>
                  <a:schemeClr val="bg2">
                    <a:lumMod val="10000"/>
                  </a:schemeClr>
                </a:solidFill>
              </a:rPr>
              <a:t> ] [ Intercept Exception ]</a:t>
            </a:r>
          </a:p>
          <a:p>
            <a:pPr>
              <a:spcAft>
                <a:spcPts val="1200"/>
              </a:spcAft>
              <a:defRPr sz="1800" b="1">
                <a:solidFill>
                  <a:srgbClr val="1E4164"/>
                </a:solidFill>
              </a:defRPr>
            </a:pPr>
            <a:r>
              <a:rPr lang="en-IN" sz="2000" dirty="0">
                <a:solidFill>
                  <a:schemeClr val="bg2">
                    <a:lumMod val="10000"/>
                  </a:schemeClr>
                </a:solidFill>
              </a:rPr>
              <a:t>       ▼               ▼</a:t>
            </a:r>
          </a:p>
          <a:p>
            <a:pPr>
              <a:spcAft>
                <a:spcPts val="1200"/>
              </a:spcAft>
              <a:defRPr sz="1800" b="1">
                <a:solidFill>
                  <a:srgbClr val="1E4164"/>
                </a:solidFill>
              </a:defRPr>
            </a:pPr>
            <a:r>
              <a:rPr lang="en-IN" sz="2000" dirty="0">
                <a:solidFill>
                  <a:schemeClr val="bg2">
                    <a:lumMod val="10000"/>
                  </a:schemeClr>
                </a:solidFill>
              </a:rPr>
              <a:t>[ Display Result ] [ Display 'Error' Mask ]</a:t>
            </a:r>
          </a:p>
          <a:p>
            <a:endParaRPr lang="en-IN" sz="2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58CE81-90E1-4310-6763-564BB4B5A2EC}"/>
              </a:ext>
            </a:extLst>
          </p:cNvPr>
          <p:cNvSpPr txBox="1"/>
          <p:nvPr/>
        </p:nvSpPr>
        <p:spPr>
          <a:xfrm>
            <a:off x="788894" y="17929"/>
            <a:ext cx="670452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rgbClr val="00B050"/>
                </a:solidFill>
              </a:rPr>
              <a:t>10. Core Operational Flowchart Diagram</a:t>
            </a:r>
          </a:p>
          <a:p>
            <a:endParaRPr lang="en-IN" sz="2800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956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548D6-DFF5-9B7D-4E0B-E0DF61954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5496" y="4933257"/>
            <a:ext cx="7344697" cy="566738"/>
          </a:xfrm>
        </p:spPr>
        <p:txBody>
          <a:bodyPr>
            <a:normAutofit/>
          </a:bodyPr>
          <a:lstStyle/>
          <a:p>
            <a:r>
              <a:rPr lang="en-IN" b="1" u="sng" dirty="0"/>
              <a:t>Advance Calculator  - -   Python Project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8E7B9DE-FB62-4FCF-673D-54906583307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306" r="306"/>
          <a:stretch/>
        </p:blipFill>
        <p:spPr>
          <a:xfrm>
            <a:off x="2519874" y="380322"/>
            <a:ext cx="6053855" cy="440311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914D37-9F02-6B29-E596-83B2F1E3A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84438" y="5799646"/>
            <a:ext cx="5951333" cy="566739"/>
          </a:xfrm>
        </p:spPr>
        <p:txBody>
          <a:bodyPr>
            <a:normAutofit lnSpcReduction="10000"/>
          </a:bodyPr>
          <a:lstStyle/>
          <a:p>
            <a:pPr algn="ctr"/>
            <a:r>
              <a:rPr lang="en-IN" sz="3600" b="1" dirty="0">
                <a:solidFill>
                  <a:srgbClr val="00B050"/>
                </a:solidFill>
              </a:rPr>
              <a:t>THANK  YOU !     </a:t>
            </a:r>
            <a:r>
              <a:rPr lang="en-IN" sz="1800" b="1" dirty="0">
                <a:solidFill>
                  <a:srgbClr val="00B05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1974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Words>1613</Words>
  <Application>Microsoft Office PowerPoint</Application>
  <PresentationFormat>Widescreen</PresentationFormat>
  <Paragraphs>129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Advance Calculator  - -   Python Project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Ajay Kumar</cp:lastModifiedBy>
  <cp:revision>13</cp:revision>
  <dcterms:created xsi:type="dcterms:W3CDTF">2013-01-27T09:14:16Z</dcterms:created>
  <dcterms:modified xsi:type="dcterms:W3CDTF">2026-08-25T10:15:32Z</dcterms:modified>
  <cp:category/>
</cp:coreProperties>
</file>